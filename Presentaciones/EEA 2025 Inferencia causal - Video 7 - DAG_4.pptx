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287000" cx="18288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e4xwefXz+fa8ag91vUNoT6RAD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928665" y="501036"/>
            <a:ext cx="16598104" cy="1140089"/>
            <a:chOff x="0" y="-38100"/>
            <a:chExt cx="4371517" cy="30027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4371517" cy="262170"/>
            </a:xfrm>
            <a:custGeom>
              <a:rect b="b" l="l" r="r" t="t"/>
              <a:pathLst>
                <a:path extrusionOk="0" h="262170" w="4371517">
                  <a:moveTo>
                    <a:pt x="29852" y="0"/>
                  </a:moveTo>
                  <a:lnTo>
                    <a:pt x="4341666" y="0"/>
                  </a:lnTo>
                  <a:cubicBezTo>
                    <a:pt x="4349583" y="0"/>
                    <a:pt x="4357176" y="3145"/>
                    <a:pt x="4362774" y="8743"/>
                  </a:cubicBezTo>
                  <a:cubicBezTo>
                    <a:pt x="4368372" y="14342"/>
                    <a:pt x="4371517" y="21935"/>
                    <a:pt x="4371517" y="29852"/>
                  </a:cubicBezTo>
                  <a:lnTo>
                    <a:pt x="4371517" y="232318"/>
                  </a:lnTo>
                  <a:cubicBezTo>
                    <a:pt x="4371517" y="248805"/>
                    <a:pt x="4358152" y="262170"/>
                    <a:pt x="4341666" y="262170"/>
                  </a:cubicBezTo>
                  <a:lnTo>
                    <a:pt x="29852" y="262170"/>
                  </a:lnTo>
                  <a:cubicBezTo>
                    <a:pt x="21935" y="262170"/>
                    <a:pt x="14342" y="259025"/>
                    <a:pt x="8743" y="253427"/>
                  </a:cubicBezTo>
                  <a:cubicBezTo>
                    <a:pt x="3145" y="247829"/>
                    <a:pt x="0" y="240236"/>
                    <a:pt x="0" y="232318"/>
                  </a:cubicBezTo>
                  <a:lnTo>
                    <a:pt x="0" y="29852"/>
                  </a:lnTo>
                  <a:cubicBezTo>
                    <a:pt x="0" y="21935"/>
                    <a:pt x="3145" y="14342"/>
                    <a:pt x="8743" y="8743"/>
                  </a:cubicBezTo>
                  <a:cubicBezTo>
                    <a:pt x="14342" y="3145"/>
                    <a:pt x="21935" y="0"/>
                    <a:pt x="298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38100">
              <a:solidFill>
                <a:srgbClr val="E5E1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4371517" cy="300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5651837" y="289333"/>
            <a:ext cx="12112509" cy="8707633"/>
          </a:xfrm>
          <a:custGeom>
            <a:rect b="b" l="l" r="r" t="t"/>
            <a:pathLst>
              <a:path extrusionOk="0" h="8707633" w="12112509">
                <a:moveTo>
                  <a:pt x="0" y="0"/>
                </a:moveTo>
                <a:lnTo>
                  <a:pt x="12112509" y="0"/>
                </a:lnTo>
                <a:lnTo>
                  <a:pt x="12112509" y="8707633"/>
                </a:lnTo>
                <a:lnTo>
                  <a:pt x="0" y="87076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4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816668" y="9040779"/>
            <a:ext cx="1080000" cy="1080000"/>
          </a:xfrm>
          <a:custGeom>
            <a:rect b="b" l="l" r="r" t="t"/>
            <a:pathLst>
              <a:path extrusionOk="0"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171305" y="879197"/>
            <a:ext cx="528429" cy="528429"/>
          </a:xfrm>
          <a:custGeom>
            <a:rect b="b" l="l" r="r" t="t"/>
            <a:pathLst>
              <a:path extrusionOk="0" h="528429" w="528429">
                <a:moveTo>
                  <a:pt x="0" y="0"/>
                </a:moveTo>
                <a:lnTo>
                  <a:pt x="528429" y="0"/>
                </a:lnTo>
                <a:lnTo>
                  <a:pt x="528429" y="528429"/>
                </a:lnTo>
                <a:lnTo>
                  <a:pt x="0" y="5284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227717" y="1932012"/>
            <a:ext cx="11411477" cy="384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21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-AR" sz="72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INFERENCIA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21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-AR" sz="72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           CAUSAL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816668" y="7744880"/>
            <a:ext cx="1080000" cy="1080000"/>
          </a:xfrm>
          <a:custGeom>
            <a:rect b="b" l="l" r="r" t="t"/>
            <a:pathLst>
              <a:path extrusionOk="0" h="428625" w="428625">
                <a:moveTo>
                  <a:pt x="0" y="0"/>
                </a:moveTo>
                <a:lnTo>
                  <a:pt x="428625" y="0"/>
                </a:lnTo>
                <a:lnTo>
                  <a:pt x="428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896668" y="882426"/>
            <a:ext cx="11554591" cy="42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AR" sz="2000" u="none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ENFOQUE ESTADISTICO DEL APRENDIZAJE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928665" y="3921903"/>
            <a:ext cx="12522594" cy="27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Autores: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Yair Barnatan</a:t>
            </a:r>
            <a:endParaRPr b="0" i="0" sz="3200" u="none" cap="none" strike="noStrike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Augusto Rey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1DA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Germán Samartino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E5E1D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133600" y="9436118"/>
            <a:ext cx="13868400" cy="4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Maestría en Explotación de Datos y Descubrimiento del Conocimiento - UBA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6154400" y="899754"/>
            <a:ext cx="11554591" cy="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AR" sz="3600" u="none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2209800" y="8012272"/>
            <a:ext cx="13868400" cy="410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AR" sz="2800" u="sng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Github: </a:t>
            </a:r>
            <a:r>
              <a:rPr b="0" i="0" lang="es-AR" sz="2800" u="none" cap="none" strike="noStrike">
                <a:solidFill>
                  <a:srgbClr val="E5E1DA"/>
                </a:solidFill>
                <a:latin typeface="Lato"/>
                <a:ea typeface="Lato"/>
                <a:cs typeface="Lato"/>
                <a:sym typeface="Lato"/>
              </a:rPr>
              <a:t>ver descripción del video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684774" y="1181100"/>
            <a:ext cx="169185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Pregunta surgida del segundo Dag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662853" y="2496825"/>
            <a:ext cx="16918452" cy="864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958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4800"/>
              <a:buFont typeface="Poppins"/>
              <a:buNone/>
            </a:pPr>
            <a:r>
              <a:rPr b="1" i="0" lang="es-AR" sz="48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Pregunta causal: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838200" y="3917352"/>
            <a:ext cx="157743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¿qué pasa si controlamos por la variable equivocada?</a:t>
            </a:r>
            <a:endParaRPr sz="3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38138" y="5581350"/>
            <a:ext cx="1577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Lato"/>
              <a:buNone/>
            </a:pPr>
            <a:r>
              <a:rPr lang="es-AR" sz="3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¿El género influye en la vida social?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 flipH="1" rot="6626729">
            <a:off x="13706974" y="-594584"/>
            <a:ext cx="14372597" cy="8822969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837174" y="896147"/>
            <a:ext cx="16918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2407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5400"/>
              <a:buFont typeface="Poppins"/>
              <a:buNone/>
            </a:pPr>
            <a:r>
              <a:rPr b="1" lang="es-AR" sz="5400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Collider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066800" y="2089675"/>
            <a:ext cx="15774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612500" y="2894525"/>
            <a:ext cx="8714700" cy="623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" title="DAG_3_Collid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2500" y="2894525"/>
            <a:ext cx="8714701" cy="622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 flipH="1" rot="6623956">
            <a:off x="13698409" y="-604090"/>
            <a:ext cx="14375510" cy="8829170"/>
          </a:xfrm>
          <a:custGeom>
            <a:rect b="b" l="l" r="r" t="t"/>
            <a:pathLst>
              <a:path extrusionOk="0"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684774" y="1181100"/>
            <a:ext cx="169185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BF9F1"/>
              </a:buClr>
              <a:buSzPts val="6500"/>
              <a:buFont typeface="Poppins"/>
              <a:buNone/>
            </a:pPr>
            <a:r>
              <a:rPr b="1" i="0" lang="es-AR" sz="6500" u="none" cap="none" strike="noStrike">
                <a:solidFill>
                  <a:srgbClr val="FBF9F1"/>
                </a:solidFill>
                <a:latin typeface="Poppins"/>
                <a:ea typeface="Poppins"/>
                <a:cs typeface="Poppins"/>
                <a:sym typeface="Poppins"/>
              </a:rPr>
              <a:t>Resultados</a:t>
            </a:r>
            <a:endParaRPr b="1" i="0" sz="6500" u="none" cap="none" strike="noStrike">
              <a:solidFill>
                <a:srgbClr val="FBF9F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Población objetivo: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Personas de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a 75 años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residen en aglomerados urbanos (específicamente los 31 aglomerados de la EPH).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de selección: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encuestó a una única persona por hogar, seleccionada aleatoriamente mediante el método de la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tabla de Kish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Instrumento: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 utilizó un cuestionario digital con validaciones automáticas.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Registros (Filas):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12.062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fila representa a una persona encuestada (un respondente seleccionado por hogar).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Cantidad de Variables (Columnas):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562</a:t>
            </a:r>
            <a: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10498650" y="3132675"/>
            <a:ext cx="62970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s-A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 (-0.05)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s-A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Filtrado por Alcohol 0.03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s-A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Sesgo de Colisionador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Char char="-"/>
            </a:pPr>
            <a:r>
              <a:rPr lang="es-A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Paradoja de Simpson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955750" y="2964400"/>
            <a:ext cx="8873100" cy="544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6" title="8_collider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7400" y="2969124"/>
            <a:ext cx="8717855" cy="5448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
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95" r:id="rId2"/>
    <p:sldId id="258" r:id="rId3"/>
    <p:sldId id="271" r:id="rId4"/>
    <p:sldId id="286" r:id="rId5"/>
    <p:sldId id="259" r:id="rId6"/>
    <p:sldId id="287" r:id="rId7"/>
    <p:sldId id="288" r:id="rId8"/>
    <p:sldId id="289" r:id="rId9"/>
    <p:sldId id="290" r:id="rId10"/>
    <p:sldId id="291" r:id="rId11"/>
    <p:sldId id="292" r:id="rId12"/>
    <p:sldId id="293" r:id="rId13"/>
  </p:sldIdLst>
  <p:sldSz cx="18288000" cy="10287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0000800000000000000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5472" autoAdjust="0"/>
  </p:normalViewPr>
  <p:slideViewPr>
    <p:cSldViewPr>
      <p:cViewPr varScale="1">
        <p:scale>
          <a:sx n="47" d="100"/>
          <a:sy n="47" d="100"/>
        </p:scale>
        <p:origin x="907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E77D0-9D72-4BA5-8224-4DA721B36FA0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0B776-386F-4D6A-9A97-6829A1F3C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5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7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3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7DA3-D403-3534-9332-A8B0C8C5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ADCD84-8579-7B76-016A-E090870F1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E373D-8264-2E30-4BEE-1802A298D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E339-94DC-B189-E9C5-0065453A2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7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9EB61-BF0C-8C09-F38A-254A56951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0CA62-E0D7-C0E9-24A4-7B03ACA7A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05CDF-1ED2-0858-9A47-F3C012A44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27360-3444-79A6-AAF9-7E0BA38C0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6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32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98FE-5F45-A779-1B0F-2FD113F2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0C011-D22C-FDA0-3E14-9AC333231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A716E-F268-12BE-55ED-8FBA8CBF3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56D9A-1049-C4DC-2890-849B80D60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99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646B-F21F-7E30-7A18-8A65144D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C1F0E-B3F2-2EE3-5A53-3842E3801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FBB2E-B3F5-147F-46D1-B4960357B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7B4AB-DD3B-947A-4FAC-10FF6DA78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45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C26E-755C-BEB4-7FAD-37A51A40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9DE55-EE0A-34D6-CCAE-7C9A29F6D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9A7A5-9C97-0D8D-603D-140ED2DF5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82199-0890-0F49-6729-B4CB88658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53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37038-F462-36B8-2465-C6B7B84C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2A051-FFEC-D731-4853-FF51B9492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3A1098-91AA-5ADC-A95D-DDA126B2C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D0A2F-3C5F-F52C-3AF7-A16BA336A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62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1AB7-1192-D2DC-6B56-DA80A69A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6DB4B-9945-9114-AACE-616C1B84B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C50C0-A0DF-6703-9CD9-FC8D71ABB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D70DB-1083-15E3-35EA-48504357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19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01F6E-0C63-5EEF-ACBE-88D853AD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6BC87-B8E7-8467-CA4A-6D95832D4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FD818-A0B0-96C5-5840-26E9C308C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8C35F-4DF6-8086-5C68-ED1E88D4C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63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30D7C-4F15-63DA-8804-ABC96E9C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96ECF-9D3B-156C-FE68-95BB6518D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5D849-C21B-891D-4226-0C4413434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B5082-3EDA-A9F2-FC8C-AF60ABDD2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0B776-386F-4D6A-9A97-6829A1F3CC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9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E421D4-66D4-A900-EA42-BBC84657B7DA}"/>
              </a:ext>
            </a:extLst>
          </p:cNvPr>
          <p:cNvSpPr/>
          <p:nvPr/>
        </p:nvSpPr>
        <p:spPr>
          <a:xfrm>
            <a:off x="-838200" y="-419100"/>
            <a:ext cx="19583400" cy="107061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928665" y="645697"/>
            <a:ext cx="16598104" cy="995428"/>
            <a:chOff x="0" y="0"/>
            <a:chExt cx="4371517" cy="262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1517" cy="262170"/>
            </a:xfrm>
            <a:custGeom>
              <a:avLst/>
              <a:gdLst/>
              <a:ahLst/>
              <a:cxnLst/>
              <a:rect l="l" t="t" r="r" b="b"/>
              <a:pathLst>
                <a:path w="4371517" h="262170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753600" y="279969"/>
            <a:ext cx="11221652" cy="8945786"/>
          </a:xfrm>
          <a:custGeom>
            <a:avLst/>
            <a:gdLst/>
            <a:ahLst/>
            <a:cxnLst/>
            <a:rect l="l" t="t" r="r" b="b"/>
            <a:pathLst>
              <a:path w="12112509" h="8707633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17287" y="9352771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8"/>
          <p:cNvSpPr/>
          <p:nvPr/>
        </p:nvSpPr>
        <p:spPr>
          <a:xfrm>
            <a:off x="1171305" y="879197"/>
            <a:ext cx="528429" cy="528429"/>
          </a:xfrm>
          <a:custGeom>
            <a:avLst/>
            <a:gdLst/>
            <a:ahLst/>
            <a:cxnLst/>
            <a:rect l="l" t="t" r="r" b="b"/>
            <a:pathLst>
              <a:path w="528429" h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438623" y="1922648"/>
            <a:ext cx="11411477" cy="384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72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INFERENCIA </a:t>
            </a:r>
          </a:p>
          <a:p>
            <a:pPr algn="l">
              <a:lnSpc>
                <a:spcPts val="15959"/>
              </a:lnSpc>
            </a:pPr>
            <a:r>
              <a:rPr lang="en-US" sz="72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CAUSAL</a:t>
            </a:r>
          </a:p>
        </p:txBody>
      </p:sp>
      <p:sp>
        <p:nvSpPr>
          <p:cNvPr id="10" name="Freeform 10"/>
          <p:cNvSpPr/>
          <p:nvPr/>
        </p:nvSpPr>
        <p:spPr>
          <a:xfrm>
            <a:off x="1403769" y="8685755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6630" y="2066337"/>
            <a:ext cx="12522594" cy="116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4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DAGs, </a:t>
            </a:r>
            <a:r>
              <a:rPr lang="en-US" sz="4400" dirty="0" err="1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configuraciones</a:t>
            </a:r>
            <a:r>
              <a:rPr lang="en-US" sz="4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4400" dirty="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lang="en-US" sz="4400" dirty="0" err="1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ejemplos</a:t>
            </a:r>
            <a:endParaRPr lang="en-US" sz="4400" dirty="0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133600" y="9436118"/>
            <a:ext cx="13868400" cy="373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0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</a:t>
            </a:r>
            <a:r>
              <a:rPr lang="en-US" sz="20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0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Explotación</a:t>
            </a:r>
            <a:r>
              <a:rPr lang="en-US" sz="20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 Datos y </a:t>
            </a:r>
            <a:r>
              <a:rPr lang="en-US" sz="20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Descubrimiento</a:t>
            </a:r>
            <a:r>
              <a:rPr lang="en-US" sz="20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20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Conocimiento</a:t>
            </a:r>
            <a:r>
              <a:rPr lang="en-US" sz="20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- UBA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CDA9982-E591-E1E3-EC92-F7547397699D}"/>
              </a:ext>
            </a:extLst>
          </p:cNvPr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165DB789-2E57-E5F4-C2CB-8E6732020DF2}"/>
              </a:ext>
            </a:extLst>
          </p:cNvPr>
          <p:cNvSpPr txBox="1"/>
          <p:nvPr/>
        </p:nvSpPr>
        <p:spPr>
          <a:xfrm>
            <a:off x="2131017" y="8769102"/>
            <a:ext cx="13868400" cy="373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000" b="1" u="sng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</a:t>
            </a:r>
            <a:r>
              <a:rPr lang="en-US" sz="2000" b="1" u="sng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0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</a:t>
            </a:r>
            <a:r>
              <a:rPr lang="en-US" sz="20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dirty="0" err="1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descripción</a:t>
            </a:r>
            <a:r>
              <a:rPr lang="en-US" sz="2000" dirty="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del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84774" y="2657409"/>
            <a:ext cx="1409802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DAG = </a:t>
            </a:r>
            <a:r>
              <a:rPr lang="es-ES" sz="3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Grafo acíclico </a:t>
            </a: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dirigido 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DAGs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3A539249-B59F-BEC0-5B98-63CBF040E0E7}"/>
              </a:ext>
            </a:extLst>
          </p:cNvPr>
          <p:cNvSpPr txBox="1"/>
          <p:nvPr/>
        </p:nvSpPr>
        <p:spPr>
          <a:xfrm>
            <a:off x="2286000" y="3272297"/>
            <a:ext cx="14706600" cy="2857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ES" sz="3200" u="sng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Grafo (G): </a:t>
            </a: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 conjunto de nodos (variables) conectados por ramas.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ES" sz="3200" u="sng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Dirigido (D): </a:t>
            </a: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Las ramas son flechas dirigidas.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ES" sz="3200" u="sng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Acíclico (A): </a:t>
            </a: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 contiene ciclos (es decir, no es posible seguir las flechas y volver al nodo de partida)</a:t>
            </a:r>
            <a:endParaRPr lang="es-E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5B8940-CDD3-9D10-BDD1-759BE219E7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487"/>
          <a:stretch>
            <a:fillRect/>
          </a:stretch>
        </p:blipFill>
        <p:spPr>
          <a:xfrm>
            <a:off x="3579270" y="7235627"/>
            <a:ext cx="11129460" cy="10320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345CF2-6920-2E96-7151-D472B3083A4D}"/>
              </a:ext>
            </a:extLst>
          </p:cNvPr>
          <p:cNvSpPr txBox="1"/>
          <p:nvPr/>
        </p:nvSpPr>
        <p:spPr>
          <a:xfrm>
            <a:off x="4419600" y="8385750"/>
            <a:ext cx="137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EB1255-713D-F856-7C67-A16D84C3B504}"/>
              </a:ext>
            </a:extLst>
          </p:cNvPr>
          <p:cNvSpPr txBox="1"/>
          <p:nvPr/>
        </p:nvSpPr>
        <p:spPr>
          <a:xfrm>
            <a:off x="8648700" y="8298051"/>
            <a:ext cx="137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412FD4-81A8-504F-3BBD-41C48A18D89F}"/>
              </a:ext>
            </a:extLst>
          </p:cNvPr>
          <p:cNvSpPr txBox="1"/>
          <p:nvPr/>
        </p:nvSpPr>
        <p:spPr>
          <a:xfrm>
            <a:off x="12496802" y="8357982"/>
            <a:ext cx="137702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✅️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04112-1A0E-DC47-5A35-4FD4A293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3BC93A40-354F-A36A-FAAE-656951EA09B4}"/>
              </a:ext>
            </a:extLst>
          </p:cNvPr>
          <p:cNvGrpSpPr/>
          <p:nvPr/>
        </p:nvGrpSpPr>
        <p:grpSpPr>
          <a:xfrm>
            <a:off x="-1333500" y="-886833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2DD3959-5965-4A0F-0098-9263694F9B00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5B6DE53-E4BE-7FEF-64BE-0235DA6AA8F8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785E190-FDFB-1CC0-4F40-4B2F966356D9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31EB17D-E4AA-2299-E11B-94D1BD53C247}"/>
              </a:ext>
            </a:extLst>
          </p:cNvPr>
          <p:cNvSpPr txBox="1"/>
          <p:nvPr/>
        </p:nvSpPr>
        <p:spPr>
          <a:xfrm>
            <a:off x="684774" y="2657409"/>
            <a:ext cx="14098026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Nodos = variables</a:t>
            </a:r>
          </a:p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Flechas = potencial relaciones causales</a:t>
            </a:r>
            <a:endParaRPr lang="en-US" sz="3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8B012D70-2B46-9D89-5353-E447381179C8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DAGs e IC</a:t>
            </a: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DBB67326-B4AE-9602-9D6B-324B285DDEFC}"/>
              </a:ext>
            </a:extLst>
          </p:cNvPr>
          <p:cNvSpPr txBox="1"/>
          <p:nvPr/>
        </p:nvSpPr>
        <p:spPr>
          <a:xfrm>
            <a:off x="684774" y="3909761"/>
            <a:ext cx="16765026" cy="3975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b="1" u="sng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Supuestos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1.- La flecha indica una posible causalidad, no obligatoria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2.- La ausencia de flecha indica que no hay efecto causal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3.- Deben representarse toda causa común entre dos variables incluso si no fue medida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s-E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 siempre…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 necesita del conocimiento experto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s-E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076D9D-E67D-3B82-7A3A-6F05352F7240}"/>
              </a:ext>
            </a:extLst>
          </p:cNvPr>
          <p:cNvSpPr txBox="1"/>
          <p:nvPr/>
        </p:nvSpPr>
        <p:spPr>
          <a:xfrm>
            <a:off x="-143746" y="6645414"/>
            <a:ext cx="1657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⭐</a:t>
            </a:r>
          </a:p>
        </p:txBody>
      </p:sp>
    </p:spTree>
    <p:extLst>
      <p:ext uri="{BB962C8B-B14F-4D97-AF65-F5344CB8AC3E}">
        <p14:creationId xmlns:p14="http://schemas.microsoft.com/office/powerpoint/2010/main" val="30169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6E75-32ED-9B33-61FE-F0C3E8A3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CE971100-C894-FF14-75A4-4E5E1A40D3FD}"/>
              </a:ext>
            </a:extLst>
          </p:cNvPr>
          <p:cNvGrpSpPr/>
          <p:nvPr/>
        </p:nvGrpSpPr>
        <p:grpSpPr>
          <a:xfrm>
            <a:off x="-1295400" y="-495300"/>
            <a:ext cx="20955000" cy="11201400"/>
            <a:chOff x="0" y="0"/>
            <a:chExt cx="3312548" cy="21431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AFCA321-5CC0-7F89-4403-2A89428627C3}"/>
                </a:ext>
              </a:extLst>
            </p:cNvPr>
            <p:cNvSpPr/>
            <p:nvPr/>
          </p:nvSpPr>
          <p:spPr>
            <a:xfrm>
              <a:off x="0" y="0"/>
              <a:ext cx="3312549" cy="2143144"/>
            </a:xfrm>
            <a:custGeom>
              <a:avLst/>
              <a:gdLst/>
              <a:ahLst/>
              <a:cxnLst/>
              <a:rect l="l" t="t" r="r" b="b"/>
              <a:pathLst>
                <a:path w="3312549" h="2143144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CB3902B-6846-E590-5FB0-07D41A44B0DA}"/>
                </a:ext>
              </a:extLst>
            </p:cNvPr>
            <p:cNvSpPr txBox="1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40D4437-2B2B-FF98-FFD9-0E94144782CF}"/>
              </a:ext>
            </a:extLst>
          </p:cNvPr>
          <p:cNvSpPr/>
          <p:nvPr/>
        </p:nvSpPr>
        <p:spPr>
          <a:xfrm rot="6626729" flipH="1">
            <a:off x="13706974" y="-594584"/>
            <a:ext cx="14372597" cy="8822969"/>
          </a:xfrm>
          <a:custGeom>
            <a:avLst/>
            <a:gdLst/>
            <a:ahLst/>
            <a:cxnLst/>
            <a:rect l="l" t="t" r="r" b="b"/>
            <a:pathLst>
              <a:path w="12221289" h="882296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1FBE98B5-1DCB-45F1-88E2-3F640AA06CB2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FFF00"/>
                </a:solidFill>
                <a:latin typeface="Poppins Bold"/>
                <a:ea typeface="Poppins Bold"/>
                <a:cs typeface="Poppins Bold"/>
                <a:sym typeface="Poppins Bold"/>
              </a:rPr>
              <a:t>Causalidad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vs </a:t>
            </a:r>
            <a:r>
              <a:rPr lang="en-US" sz="6500" b="1" dirty="0" err="1">
                <a:solidFill>
                  <a:schemeClr val="accent6"/>
                </a:solidFill>
                <a:latin typeface="Poppins Bold"/>
                <a:ea typeface="Poppins Bold"/>
                <a:cs typeface="Poppins Bold"/>
                <a:sym typeface="Poppins Bold"/>
              </a:rPr>
              <a:t>asociación</a:t>
            </a:r>
            <a:endParaRPr lang="en-US" sz="6500" b="1" dirty="0">
              <a:solidFill>
                <a:schemeClr val="accent6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84BFB60C-0DF4-204E-3680-D0A811FAAFD9}"/>
              </a:ext>
            </a:extLst>
          </p:cNvPr>
          <p:cNvSpPr txBox="1"/>
          <p:nvPr/>
        </p:nvSpPr>
        <p:spPr>
          <a:xfrm>
            <a:off x="914400" y="2936677"/>
            <a:ext cx="14098026" cy="4138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80"/>
              </a:lnSpc>
              <a:spcBef>
                <a:spcPct val="0"/>
              </a:spcBef>
            </a:pPr>
            <a:r>
              <a:rPr lang="es-ES" sz="3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Flechas: cañerías por los cuales fluye la causalidad y la asociación.</a:t>
            </a: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ts val="3080"/>
              </a:lnSpc>
              <a:spcBef>
                <a:spcPct val="0"/>
              </a:spcBef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s-ES" sz="3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</a:t>
            </a:r>
            <a:r>
              <a:rPr lang="es-ES" sz="3200" b="1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causalidad </a:t>
            </a:r>
            <a:r>
              <a:rPr lang="es-ES" sz="3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sólo fluye en el sentido de las flechas (relación asimétrica)</a:t>
            </a:r>
          </a:p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s-ES" sz="3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 </a:t>
            </a:r>
            <a:r>
              <a:rPr lang="es-ES" sz="3200" b="1" dirty="0">
                <a:solidFill>
                  <a:schemeClr val="accent6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asociación</a:t>
            </a:r>
            <a:r>
              <a:rPr lang="es-ES" sz="3200" b="1" dirty="0">
                <a:solidFill>
                  <a:srgbClr val="00B05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3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fluye en ambos sentidos (relación simétrica)</a:t>
            </a:r>
          </a:p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lnSpc>
                <a:spcPts val="308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s-ES" sz="32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s-ES" sz="96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  →  B</a:t>
            </a:r>
            <a:endParaRPr lang="es-ES" sz="96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89D42-E1F4-B8D9-5331-B3EDC2F33EA3}"/>
              </a:ext>
            </a:extLst>
          </p:cNvPr>
          <p:cNvSpPr txBox="1"/>
          <p:nvPr/>
        </p:nvSpPr>
        <p:spPr>
          <a:xfrm>
            <a:off x="1066800" y="9079037"/>
            <a:ext cx="145374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Def:</a:t>
            </a:r>
            <a:r>
              <a:rPr lang="es-E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3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Sesgo = asociación que no es producto de la causalidad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265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01CACA6D-265B-5B9A-2FC8-720905F048D5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13D0861A-2D11-0952-413F-176725AA5A4B}"/>
              </a:ext>
            </a:extLst>
          </p:cNvPr>
          <p:cNvSpPr txBox="1"/>
          <p:nvPr/>
        </p:nvSpPr>
        <p:spPr>
          <a:xfrm>
            <a:off x="700014" y="2335410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1. Fork</a:t>
            </a:r>
          </a:p>
        </p:txBody>
      </p:sp>
      <p:pic>
        <p:nvPicPr>
          <p:cNvPr id="8" name="Picture 7" descr="A black arrows pointing to a couple of arrows&#10;&#10;AI-generated content may be incorrect.">
            <a:extLst>
              <a:ext uri="{FF2B5EF4-FFF2-40B4-BE49-F238E27FC236}">
                <a16:creationId xmlns:a16="http://schemas.microsoft.com/office/drawing/2014/main" id="{FEAF72A3-FF3B-6A93-66AD-20C1A0864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473220"/>
            <a:ext cx="2579428" cy="16321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32F55F-3496-DAA8-32F6-0837B2551D98}"/>
              </a:ext>
            </a:extLst>
          </p:cNvPr>
          <p:cNvSpPr txBox="1"/>
          <p:nvPr/>
        </p:nvSpPr>
        <p:spPr>
          <a:xfrm>
            <a:off x="8686800" y="4559888"/>
            <a:ext cx="6699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¿</a:t>
            </a:r>
            <a:r>
              <a:rPr lang="en-US" sz="28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Concomitancia</a:t>
            </a:r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e Y </a:t>
            </a:r>
            <a:r>
              <a:rPr lang="en-US" sz="28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implica</a:t>
            </a:r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causalidad</a:t>
            </a:r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3FC232A-D78E-A673-6AD6-B1EEA868783D}"/>
              </a:ext>
            </a:extLst>
          </p:cNvPr>
          <p:cNvSpPr txBox="1"/>
          <p:nvPr/>
        </p:nvSpPr>
        <p:spPr>
          <a:xfrm>
            <a:off x="700014" y="3905788"/>
            <a:ext cx="4725426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A =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Encendedor</a:t>
            </a: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en</a:t>
            </a: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bolsillo</a:t>
            </a:r>
            <a:endParaRPr lang="en-US" sz="2800" dirty="0">
              <a:solidFill>
                <a:srgbClr val="FBF9F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Bold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L =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Fumar</a:t>
            </a:r>
            <a:endParaRPr lang="en-US" sz="2800" dirty="0">
              <a:solidFill>
                <a:srgbClr val="FBF9F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Bold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Y =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Cáncer</a:t>
            </a: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pulmonar</a:t>
            </a:r>
            <a:endParaRPr lang="en-US" sz="2800" dirty="0">
              <a:solidFill>
                <a:srgbClr val="FBF9F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AF5BF-2A8A-7D69-C76C-4945229A3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13458EB1-D4E1-5138-4253-0752F6820507}"/>
              </a:ext>
            </a:extLst>
          </p:cNvPr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88A864C5-1E6E-782C-4DAB-8EF8EB624CA7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9BCC635B-0EBA-00FD-D113-ECCF2D720356}"/>
              </a:ext>
            </a:extLst>
          </p:cNvPr>
          <p:cNvSpPr txBox="1"/>
          <p:nvPr/>
        </p:nvSpPr>
        <p:spPr>
          <a:xfrm>
            <a:off x="700014" y="2335410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1. Fork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80A6B-D732-BAA5-B644-A4874E0B1C94}"/>
              </a:ext>
            </a:extLst>
          </p:cNvPr>
          <p:cNvSpPr txBox="1"/>
          <p:nvPr/>
        </p:nvSpPr>
        <p:spPr>
          <a:xfrm>
            <a:off x="6781800" y="7540088"/>
            <a:ext cx="99821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Hay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sesgo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confusión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cuando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hay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una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componente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la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asociación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debe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la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existencia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una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causa </a:t>
            </a:r>
            <a:r>
              <a:rPr lang="en-US" sz="32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común</a:t>
            </a:r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entre las variables.</a:t>
            </a:r>
          </a:p>
        </p:txBody>
      </p:sp>
      <p:pic>
        <p:nvPicPr>
          <p:cNvPr id="8" name="Picture 7" descr="A black arrows pointing to a couple of arrows&#10;&#10;AI-generated content may be incorrect.">
            <a:extLst>
              <a:ext uri="{FF2B5EF4-FFF2-40B4-BE49-F238E27FC236}">
                <a16:creationId xmlns:a16="http://schemas.microsoft.com/office/drawing/2014/main" id="{644BEAA4-D0F3-B297-AEB4-29AC2F46A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3473220"/>
            <a:ext cx="2579428" cy="16321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1513EB-C66D-7A30-B00B-FF2DC2DD14E7}"/>
              </a:ext>
            </a:extLst>
          </p:cNvPr>
          <p:cNvSpPr txBox="1"/>
          <p:nvPr/>
        </p:nvSpPr>
        <p:spPr>
          <a:xfrm>
            <a:off x="8686800" y="4559888"/>
            <a:ext cx="6699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¿</a:t>
            </a:r>
            <a:r>
              <a:rPr lang="en-US" sz="28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Concomitancia</a:t>
            </a:r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e Y </a:t>
            </a:r>
            <a:r>
              <a:rPr lang="en-US" sz="28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implica</a:t>
            </a:r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causalidad</a:t>
            </a:r>
            <a:r>
              <a:rPr lang="en-US" sz="2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EBFB5-8FD9-B91E-5ED5-D040F0EEC1D4}"/>
              </a:ext>
            </a:extLst>
          </p:cNvPr>
          <p:cNvSpPr txBox="1"/>
          <p:nvPr/>
        </p:nvSpPr>
        <p:spPr>
          <a:xfrm>
            <a:off x="11582400" y="6049988"/>
            <a:ext cx="11464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F8A4C4-B3C4-DBB6-BB1D-94A028A72635}"/>
              </a:ext>
            </a:extLst>
          </p:cNvPr>
          <p:cNvSpPr txBox="1"/>
          <p:nvPr/>
        </p:nvSpPr>
        <p:spPr>
          <a:xfrm>
            <a:off x="12508230" y="5957654"/>
            <a:ext cx="137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❌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ECFFF7-12B8-988F-83BF-6B67AB79E133}"/>
              </a:ext>
            </a:extLst>
          </p:cNvPr>
          <p:cNvCxnSpPr/>
          <p:nvPr/>
        </p:nvCxnSpPr>
        <p:spPr>
          <a:xfrm>
            <a:off x="11125200" y="5295900"/>
            <a:ext cx="0" cy="198120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E4B5B1C1-F9A7-5BA1-E1A8-052CF7779578}"/>
              </a:ext>
            </a:extLst>
          </p:cNvPr>
          <p:cNvSpPr txBox="1"/>
          <p:nvPr/>
        </p:nvSpPr>
        <p:spPr>
          <a:xfrm>
            <a:off x="700014" y="3905788"/>
            <a:ext cx="4725426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A =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Encendedor</a:t>
            </a: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en</a:t>
            </a: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bolsillo</a:t>
            </a:r>
            <a:endParaRPr lang="en-US" sz="2800" dirty="0">
              <a:solidFill>
                <a:srgbClr val="FBF9F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Bold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L =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Fumar</a:t>
            </a:r>
            <a:endParaRPr lang="en-US" sz="2800" dirty="0">
              <a:solidFill>
                <a:srgbClr val="FBF9F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Bold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Y =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Cáncer</a:t>
            </a:r>
            <a:r>
              <a:rPr lang="en-US" sz="2800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</a:t>
            </a:r>
            <a:r>
              <a:rPr lang="en-US" sz="2800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pulmonar</a:t>
            </a:r>
            <a:endParaRPr lang="en-US" sz="2800" dirty="0">
              <a:solidFill>
                <a:srgbClr val="FBF9F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64343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99495-9451-6B81-F309-FA4F826C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67564D82-E795-A7C3-6DD4-85A03099726F}"/>
              </a:ext>
            </a:extLst>
          </p:cNvPr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493A44BE-8791-A3D8-5B0A-C58E82E23BDE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BA87CD88-EE4D-86FE-37A9-2096CF67B51E}"/>
              </a:ext>
            </a:extLst>
          </p:cNvPr>
          <p:cNvSpPr txBox="1"/>
          <p:nvPr/>
        </p:nvSpPr>
        <p:spPr>
          <a:xfrm>
            <a:off x="700014" y="2335410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2. Chain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25DE29-3C0F-D525-450D-DBF138668AEE}"/>
              </a:ext>
            </a:extLst>
          </p:cNvPr>
          <p:cNvSpPr txBox="1"/>
          <p:nvPr/>
        </p:nvSpPr>
        <p:spPr>
          <a:xfrm>
            <a:off x="684774" y="3573840"/>
            <a:ext cx="52131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Fumar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Y = C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ncer de pulmón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Daño en el ADN de las células pulmonares</a:t>
            </a:r>
          </a:p>
        </p:txBody>
      </p:sp>
      <p:pic>
        <p:nvPicPr>
          <p:cNvPr id="18" name="Picture 17" descr="A black arrow pointing to a black line&#10;&#10;AI-generated content may be incorrect.">
            <a:extLst>
              <a:ext uri="{FF2B5EF4-FFF2-40B4-BE49-F238E27FC236}">
                <a16:creationId xmlns:a16="http://schemas.microsoft.com/office/drawing/2014/main" id="{5CC08C69-74AD-E9D2-B0F0-0D04CF033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81460"/>
            <a:ext cx="5033148" cy="1569660"/>
          </a:xfrm>
          <a:prstGeom prst="rect">
            <a:avLst/>
          </a:prstGeom>
        </p:spPr>
      </p:pic>
      <p:sp>
        <p:nvSpPr>
          <p:cNvPr id="19" name="TextBox 10">
            <a:extLst>
              <a:ext uri="{FF2B5EF4-FFF2-40B4-BE49-F238E27FC236}">
                <a16:creationId xmlns:a16="http://schemas.microsoft.com/office/drawing/2014/main" id="{58B7B8E9-B79B-1523-0C0D-BE2CE18893EA}"/>
              </a:ext>
            </a:extLst>
          </p:cNvPr>
          <p:cNvSpPr txBox="1"/>
          <p:nvPr/>
        </p:nvSpPr>
        <p:spPr>
          <a:xfrm>
            <a:off x="8077200" y="5143500"/>
            <a:ext cx="16918452" cy="807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3200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 = </a:t>
            </a:r>
            <a:r>
              <a:rPr lang="en-US" sz="3200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mediador</a:t>
            </a:r>
            <a:endParaRPr lang="en-US" sz="3200" dirty="0">
              <a:solidFill>
                <a:srgbClr val="FBF9F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3306095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8BCF8-D791-16ED-6242-575730EF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7E02A9BD-2874-31DD-CA51-59BC43AE414C}"/>
              </a:ext>
            </a:extLst>
          </p:cNvPr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C5CC42AF-FEB1-D6D9-BDC2-9EC9F9CD8C39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848AF247-4848-CA33-12B0-C15211AAC3D5}"/>
              </a:ext>
            </a:extLst>
          </p:cNvPr>
          <p:cNvSpPr txBox="1"/>
          <p:nvPr/>
        </p:nvSpPr>
        <p:spPr>
          <a:xfrm>
            <a:off x="700014" y="2335410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2. Chain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352D3-A3FD-C881-8FAF-27544DA63925}"/>
              </a:ext>
            </a:extLst>
          </p:cNvPr>
          <p:cNvSpPr txBox="1"/>
          <p:nvPr/>
        </p:nvSpPr>
        <p:spPr>
          <a:xfrm>
            <a:off x="684774" y="3573840"/>
            <a:ext cx="52131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Fumar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Y = C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ncer de pulmón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Daño en el ADN de las células pulmonares</a:t>
            </a:r>
          </a:p>
        </p:txBody>
      </p:sp>
      <p:pic>
        <p:nvPicPr>
          <p:cNvPr id="18" name="Picture 17" descr="A black arrow pointing to a black line&#10;&#10;AI-generated content may be incorrect.">
            <a:extLst>
              <a:ext uri="{FF2B5EF4-FFF2-40B4-BE49-F238E27FC236}">
                <a16:creationId xmlns:a16="http://schemas.microsoft.com/office/drawing/2014/main" id="{172263C3-F174-2A67-E54D-AECD4EA84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81460"/>
            <a:ext cx="5033148" cy="1569660"/>
          </a:xfrm>
          <a:prstGeom prst="rect">
            <a:avLst/>
          </a:prstGeom>
        </p:spPr>
      </p:pic>
      <p:sp>
        <p:nvSpPr>
          <p:cNvPr id="19" name="TextBox 10">
            <a:extLst>
              <a:ext uri="{FF2B5EF4-FFF2-40B4-BE49-F238E27FC236}">
                <a16:creationId xmlns:a16="http://schemas.microsoft.com/office/drawing/2014/main" id="{B7D7619E-E35B-83A4-D045-B0C19E64DA49}"/>
              </a:ext>
            </a:extLst>
          </p:cNvPr>
          <p:cNvSpPr txBox="1"/>
          <p:nvPr/>
        </p:nvSpPr>
        <p:spPr>
          <a:xfrm>
            <a:off x="5486400" y="5495533"/>
            <a:ext cx="2133600" cy="1703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Efecto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total A </a:t>
            </a: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en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1C1EDE-B757-2973-F2C9-18A35945260C}"/>
              </a:ext>
            </a:extLst>
          </p:cNvPr>
          <p:cNvCxnSpPr>
            <a:cxnSpLocks/>
          </p:cNvCxnSpPr>
          <p:nvPr/>
        </p:nvCxnSpPr>
        <p:spPr>
          <a:xfrm flipH="1">
            <a:off x="7620000" y="5295900"/>
            <a:ext cx="1295400" cy="56419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2B97BE-9A79-7349-E16D-FB8603505AA5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6553200" y="7396325"/>
            <a:ext cx="0" cy="406192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5C7C3D5-9C7C-D8ED-8FE1-FDDA223D693F}"/>
              </a:ext>
            </a:extLst>
          </p:cNvPr>
          <p:cNvSpPr txBox="1"/>
          <p:nvPr/>
        </p:nvSpPr>
        <p:spPr>
          <a:xfrm>
            <a:off x="4522470" y="7561643"/>
            <a:ext cx="4061460" cy="779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No </a:t>
            </a: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bloquear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</a:t>
            </a: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por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B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D36B53E1-751F-4373-D626-0FA4AB4117B0}"/>
              </a:ext>
            </a:extLst>
          </p:cNvPr>
          <p:cNvSpPr txBox="1"/>
          <p:nvPr/>
        </p:nvSpPr>
        <p:spPr>
          <a:xfrm>
            <a:off x="10668002" y="5361971"/>
            <a:ext cx="4038600" cy="1703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Efecto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y </a:t>
            </a: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mecanismo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de A </a:t>
            </a: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en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ED2134-9660-77FD-9946-84451448B1ED}"/>
              </a:ext>
            </a:extLst>
          </p:cNvPr>
          <p:cNvCxnSpPr>
            <a:cxnSpLocks/>
          </p:cNvCxnSpPr>
          <p:nvPr/>
        </p:nvCxnSpPr>
        <p:spPr>
          <a:xfrm>
            <a:off x="9563100" y="5295900"/>
            <a:ext cx="1295400" cy="56419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7394F8A-1CB0-8A72-19DC-18CB8DDB82E7}"/>
              </a:ext>
            </a:extLst>
          </p:cNvPr>
          <p:cNvSpPr txBox="1"/>
          <p:nvPr/>
        </p:nvSpPr>
        <p:spPr>
          <a:xfrm>
            <a:off x="10881362" y="7561642"/>
            <a:ext cx="4061460" cy="779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Incluir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a B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F940347-20DD-BF6B-89C4-B8BA324216C4}"/>
              </a:ext>
            </a:extLst>
          </p:cNvPr>
          <p:cNvCxnSpPr>
            <a:cxnSpLocks/>
          </p:cNvCxnSpPr>
          <p:nvPr/>
        </p:nvCxnSpPr>
        <p:spPr>
          <a:xfrm>
            <a:off x="12877800" y="7360506"/>
            <a:ext cx="0" cy="406192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175891-9AA1-CF77-943A-8BD9F910B647}"/>
              </a:ext>
            </a:extLst>
          </p:cNvPr>
          <p:cNvSpPr txBox="1"/>
          <p:nvPr/>
        </p:nvSpPr>
        <p:spPr>
          <a:xfrm>
            <a:off x="9829800" y="9056177"/>
            <a:ext cx="601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Condicionar por un mediador = bloquear el flujo de asociación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AD4266-9F1E-1219-E9A8-118819C554CE}"/>
              </a:ext>
            </a:extLst>
          </p:cNvPr>
          <p:cNvCxnSpPr>
            <a:cxnSpLocks/>
          </p:cNvCxnSpPr>
          <p:nvPr/>
        </p:nvCxnSpPr>
        <p:spPr>
          <a:xfrm>
            <a:off x="12832080" y="8496300"/>
            <a:ext cx="0" cy="406192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594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084B4-B6B3-7497-D5BF-3263FEC2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B45DFE99-868D-C959-8A44-73A061EA1FD9}"/>
              </a:ext>
            </a:extLst>
          </p:cNvPr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8456863B-5B1E-6016-E039-294936BB6AB4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5D872963-00A1-1526-8812-BEA936149DD9}"/>
              </a:ext>
            </a:extLst>
          </p:cNvPr>
          <p:cNvSpPr txBox="1"/>
          <p:nvPr/>
        </p:nvSpPr>
        <p:spPr>
          <a:xfrm>
            <a:off x="700014" y="2247900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2. Chain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A57161-1A1A-627B-540B-5B5AEB0964B8}"/>
              </a:ext>
            </a:extLst>
          </p:cNvPr>
          <p:cNvSpPr txBox="1"/>
          <p:nvPr/>
        </p:nvSpPr>
        <p:spPr>
          <a:xfrm>
            <a:off x="684774" y="3573840"/>
            <a:ext cx="52131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Fumar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Y = C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ncer de pulmón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Daño en el ADN de las células pulmonares</a:t>
            </a:r>
          </a:p>
        </p:txBody>
      </p:sp>
      <p:pic>
        <p:nvPicPr>
          <p:cNvPr id="18" name="Picture 17" descr="A black arrow pointing to a black line&#10;&#10;AI-generated content may be incorrect.">
            <a:extLst>
              <a:ext uri="{FF2B5EF4-FFF2-40B4-BE49-F238E27FC236}">
                <a16:creationId xmlns:a16="http://schemas.microsoft.com/office/drawing/2014/main" id="{083C118B-CF82-DF42-7BC5-5B3055C86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81460"/>
            <a:ext cx="5033148" cy="1569660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1DDCF001-7747-2D24-9D70-E4E1BA3CC52F}"/>
              </a:ext>
            </a:extLst>
          </p:cNvPr>
          <p:cNvSpPr txBox="1"/>
          <p:nvPr/>
        </p:nvSpPr>
        <p:spPr>
          <a:xfrm>
            <a:off x="10668002" y="5361971"/>
            <a:ext cx="4038600" cy="1703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Efecto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y </a:t>
            </a: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mecanismo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de A </a:t>
            </a: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en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C51A60-0F66-86A0-DEE9-CCB27749540C}"/>
              </a:ext>
            </a:extLst>
          </p:cNvPr>
          <p:cNvCxnSpPr>
            <a:cxnSpLocks/>
          </p:cNvCxnSpPr>
          <p:nvPr/>
        </p:nvCxnSpPr>
        <p:spPr>
          <a:xfrm>
            <a:off x="9563100" y="5295900"/>
            <a:ext cx="1295400" cy="56419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B740B60-0056-8226-2C3B-B7AF7BA864CF}"/>
              </a:ext>
            </a:extLst>
          </p:cNvPr>
          <p:cNvSpPr txBox="1"/>
          <p:nvPr/>
        </p:nvSpPr>
        <p:spPr>
          <a:xfrm>
            <a:off x="10881362" y="7561642"/>
            <a:ext cx="4061460" cy="779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3200" b="1" dirty="0" err="1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Incluir</a:t>
            </a:r>
            <a:r>
              <a:rPr lang="en-US" sz="3200" b="1" dirty="0">
                <a:solidFill>
                  <a:srgbClr val="FBF9F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oppins Bold"/>
              </a:rPr>
              <a:t> a B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7585DF-5827-3469-F448-C7F07F1C9318}"/>
              </a:ext>
            </a:extLst>
          </p:cNvPr>
          <p:cNvCxnSpPr>
            <a:cxnSpLocks/>
          </p:cNvCxnSpPr>
          <p:nvPr/>
        </p:nvCxnSpPr>
        <p:spPr>
          <a:xfrm>
            <a:off x="12877800" y="7360506"/>
            <a:ext cx="0" cy="406192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A6DFA1-3FA4-EEBB-CED7-25C9221A420C}"/>
              </a:ext>
            </a:extLst>
          </p:cNvPr>
          <p:cNvSpPr txBox="1"/>
          <p:nvPr/>
        </p:nvSpPr>
        <p:spPr>
          <a:xfrm>
            <a:off x="9829800" y="9056177"/>
            <a:ext cx="601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Condicionar por un mediador = bloquear el flujo de asociación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3223020-80FB-4DBE-807B-41448E7A283F}"/>
              </a:ext>
            </a:extLst>
          </p:cNvPr>
          <p:cNvCxnSpPr>
            <a:cxnSpLocks/>
          </p:cNvCxnSpPr>
          <p:nvPr/>
        </p:nvCxnSpPr>
        <p:spPr>
          <a:xfrm>
            <a:off x="12832080" y="8496300"/>
            <a:ext cx="0" cy="406192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91AD89-CA02-42DE-405F-CDB5C23FF5ED}"/>
              </a:ext>
            </a:extLst>
          </p:cNvPr>
          <p:cNvSpPr txBox="1"/>
          <p:nvPr/>
        </p:nvSpPr>
        <p:spPr>
          <a:xfrm>
            <a:off x="2819399" y="9082654"/>
            <a:ext cx="6019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0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Agregar mas variables no siempre otorga mayor poder explicativo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E78DF2-17E7-ABBF-F781-6B0FA411609D}"/>
              </a:ext>
            </a:extLst>
          </p:cNvPr>
          <p:cNvSpPr/>
          <p:nvPr/>
        </p:nvSpPr>
        <p:spPr>
          <a:xfrm rot="10800000">
            <a:off x="8839200" y="9079037"/>
            <a:ext cx="685800" cy="80813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0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DA4DD-919E-EFB9-7FA8-D410AAD3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20A67878-2F79-D913-A476-98031A72A9FB}"/>
              </a:ext>
            </a:extLst>
          </p:cNvPr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4D8962D8-85E1-0055-EF9B-B4456B841EEE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73F73A09-0096-4746-0CC7-070BFCB266CE}"/>
              </a:ext>
            </a:extLst>
          </p:cNvPr>
          <p:cNvSpPr txBox="1"/>
          <p:nvPr/>
        </p:nvSpPr>
        <p:spPr>
          <a:xfrm>
            <a:off x="700014" y="2335410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3. Collider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9A385F-666E-D04C-4DD9-6E1090962BAC}"/>
              </a:ext>
            </a:extLst>
          </p:cNvPr>
          <p:cNvSpPr txBox="1"/>
          <p:nvPr/>
        </p:nvSpPr>
        <p:spPr>
          <a:xfrm>
            <a:off x="684774" y="3573840"/>
            <a:ext cx="5213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Altura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Y = Velocidad al correr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Jugar al </a:t>
            </a:r>
            <a:r>
              <a:rPr lang="es-ES" sz="240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basket</a:t>
            </a:r>
            <a:endParaRPr lang="es-ES" sz="240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Picture 6" descr="A black arrows pointing to a white background&#10;&#10;AI-generated content may be incorrect.">
            <a:extLst>
              <a:ext uri="{FF2B5EF4-FFF2-40B4-BE49-F238E27FC236}">
                <a16:creationId xmlns:a16="http://schemas.microsoft.com/office/drawing/2014/main" id="{FDEADC9F-72DA-10BA-6DFE-AF906DE09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950" y="2848499"/>
            <a:ext cx="2819572" cy="1865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6B9FDD-B93D-76C6-E3EE-858C4A4E45F9}"/>
              </a:ext>
            </a:extLst>
          </p:cNvPr>
          <p:cNvSpPr txBox="1"/>
          <p:nvPr/>
        </p:nvSpPr>
        <p:spPr>
          <a:xfrm>
            <a:off x="6019800" y="5103961"/>
            <a:ext cx="1203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 condicionar en Z, la asociación entre A e Y está bloqueada. 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1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EC996-B395-E7DB-E8B1-B8F0F240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DCAEBC42-5CDC-E243-0AC4-2DD67A703F16}"/>
              </a:ext>
            </a:extLst>
          </p:cNvPr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B78D30BF-50F0-23ED-2034-479C43A473FC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A798566D-0D25-2F90-331D-D28A125DE1CD}"/>
              </a:ext>
            </a:extLst>
          </p:cNvPr>
          <p:cNvSpPr txBox="1"/>
          <p:nvPr/>
        </p:nvSpPr>
        <p:spPr>
          <a:xfrm>
            <a:off x="700014" y="2335410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oppins Bold"/>
                <a:ea typeface="Poppins Bold"/>
                <a:cs typeface="Poppins Bold"/>
                <a:sym typeface="Poppins Bold"/>
              </a:rPr>
              <a:t>3. Collider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2B6E3-2DB8-3185-DB1F-20B824996E36}"/>
              </a:ext>
            </a:extLst>
          </p:cNvPr>
          <p:cNvSpPr txBox="1"/>
          <p:nvPr/>
        </p:nvSpPr>
        <p:spPr>
          <a:xfrm>
            <a:off x="684774" y="3573840"/>
            <a:ext cx="5213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 Altura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Y = Velocidad al correr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 </a:t>
            </a:r>
            <a:r>
              <a:rPr lang="es-ES" sz="2400" i="1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Z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=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s-ES" sz="24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Jugar al </a:t>
            </a:r>
            <a:r>
              <a:rPr lang="es-ES" sz="2400" dirty="0" err="1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basket</a:t>
            </a:r>
            <a:endParaRPr lang="es-ES" sz="240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Picture 6" descr="A black arrows pointing to a white background&#10;&#10;AI-generated content may be incorrect.">
            <a:extLst>
              <a:ext uri="{FF2B5EF4-FFF2-40B4-BE49-F238E27FC236}">
                <a16:creationId xmlns:a16="http://schemas.microsoft.com/office/drawing/2014/main" id="{90CCEF9A-6377-D0CE-87FB-D43D78A0A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950" y="2848499"/>
            <a:ext cx="2819572" cy="1865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BADB9-E4D4-B41F-E4F9-51E085AE6025}"/>
              </a:ext>
            </a:extLst>
          </p:cNvPr>
          <p:cNvSpPr txBox="1"/>
          <p:nvPr/>
        </p:nvSpPr>
        <p:spPr>
          <a:xfrm>
            <a:off x="6019800" y="6743641"/>
            <a:ext cx="1203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¿</a:t>
            </a:r>
            <a:r>
              <a:rPr lang="es-ES" sz="2400" b="0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 pasa con el sesgo de selec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ción? ...</a:t>
            </a:r>
          </a:p>
          <a:p>
            <a:endParaRPr lang="es-E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 introduce solo si analizamos el subconjunto de personas que juegan al </a:t>
            </a:r>
            <a:r>
              <a:rPr lang="es-ES" sz="2400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basket</a:t>
            </a:r>
            <a:r>
              <a:rPr lang="es-E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3365E1-F6F2-A131-FD96-DBC2E6394D5A}"/>
              </a:ext>
            </a:extLst>
          </p:cNvPr>
          <p:cNvSpPr txBox="1"/>
          <p:nvPr/>
        </p:nvSpPr>
        <p:spPr>
          <a:xfrm>
            <a:off x="6019800" y="5103961"/>
            <a:ext cx="1203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2400" b="0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s-ES" sz="2400" b="0" i="0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Condicionando por Z, A e Y se vuelven dependientes incluso sin causa real de fondo. 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98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5BBF5-A014-BD97-9155-510A3C89B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846E452C-FAF8-751E-B009-EF6485311D80}"/>
              </a:ext>
            </a:extLst>
          </p:cNvPr>
          <p:cNvSpPr/>
          <p:nvPr/>
        </p:nvSpPr>
        <p:spPr>
          <a:xfrm rot="10435729">
            <a:off x="14449444" y="-6347108"/>
            <a:ext cx="7951775" cy="8527373"/>
          </a:xfrm>
          <a:custGeom>
            <a:avLst/>
            <a:gdLst/>
            <a:ahLst/>
            <a:cxnLst/>
            <a:rect l="l" t="t" r="r" b="b"/>
            <a:pathLst>
              <a:path w="7951775" h="8527373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7F5EF7FD-2589-DEE8-DF22-335D6F3EF96D}"/>
              </a:ext>
            </a:extLst>
          </p:cNvPr>
          <p:cNvSpPr txBox="1"/>
          <p:nvPr/>
        </p:nvSpPr>
        <p:spPr>
          <a:xfrm>
            <a:off x="684774" y="1207963"/>
            <a:ext cx="16918452" cy="925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Estructuras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00" b="1" dirty="0" err="1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básicas</a:t>
            </a:r>
            <a:r>
              <a:rPr lang="en-US" sz="6500" b="1" dirty="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 DAGs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A996170E-3AAC-0BF1-326E-13D9A092F1BF}"/>
              </a:ext>
            </a:extLst>
          </p:cNvPr>
          <p:cNvSpPr txBox="1"/>
          <p:nvPr/>
        </p:nvSpPr>
        <p:spPr>
          <a:xfrm>
            <a:off x="838200" y="4186843"/>
            <a:ext cx="16918452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5400" b="1" dirty="0">
                <a:solidFill>
                  <a:schemeClr val="accent1"/>
                </a:solidFill>
                <a:latin typeface="Poppins Bold"/>
                <a:ea typeface="Poppins Bold"/>
                <a:cs typeface="Poppins Bold"/>
                <a:sym typeface="Poppins Bold"/>
              </a:rPr>
              <a:t>RESUMEN</a:t>
            </a:r>
          </a:p>
        </p:txBody>
      </p:sp>
      <p:pic>
        <p:nvPicPr>
          <p:cNvPr id="6" name="Picture 5" descr="A diagram of a fork and a fork&#10;&#10;AI-generated content may be incorrect.">
            <a:extLst>
              <a:ext uri="{FF2B5EF4-FFF2-40B4-BE49-F238E27FC236}">
                <a16:creationId xmlns:a16="http://schemas.microsoft.com/office/drawing/2014/main" id="{C1D2CAB0-88EB-2C3E-1C10-1CFF10E6E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343030"/>
            <a:ext cx="10659980" cy="44648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5B1B11-DF32-354F-8AEA-C5F9EE44A91A}"/>
              </a:ext>
            </a:extLst>
          </p:cNvPr>
          <p:cNvSpPr txBox="1"/>
          <p:nvPr/>
        </p:nvSpPr>
        <p:spPr>
          <a:xfrm>
            <a:off x="12344399" y="7734300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Flujo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información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cerrado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defecto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70C8F-FE93-66C9-B9DB-5463D9234D8F}"/>
              </a:ext>
            </a:extLst>
          </p:cNvPr>
          <p:cNvSpPr txBox="1"/>
          <p:nvPr/>
        </p:nvSpPr>
        <p:spPr>
          <a:xfrm>
            <a:off x="8762999" y="7703820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Flujo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información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abierto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defecto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33530-936D-8CF5-DD23-583A3559A12E}"/>
              </a:ext>
            </a:extLst>
          </p:cNvPr>
          <p:cNvSpPr txBox="1"/>
          <p:nvPr/>
        </p:nvSpPr>
        <p:spPr>
          <a:xfrm>
            <a:off x="5029199" y="7734300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Flujo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información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abierto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por</a:t>
            </a:r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defecto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E0A2FAE-B869-23FD-3283-AC563EADE676}"/>
              </a:ext>
            </a:extLst>
          </p:cNvPr>
          <p:cNvSpPr/>
          <p:nvPr/>
        </p:nvSpPr>
        <p:spPr>
          <a:xfrm>
            <a:off x="6400800" y="7124700"/>
            <a:ext cx="457200" cy="533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D2EA722-322F-B15B-69C9-83F949910DEA}"/>
              </a:ext>
            </a:extLst>
          </p:cNvPr>
          <p:cNvSpPr/>
          <p:nvPr/>
        </p:nvSpPr>
        <p:spPr>
          <a:xfrm>
            <a:off x="9978190" y="7124700"/>
            <a:ext cx="457200" cy="533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B1DFA28-1470-28E5-31FC-6C89ECD23C78}"/>
              </a:ext>
            </a:extLst>
          </p:cNvPr>
          <p:cNvSpPr/>
          <p:nvPr/>
        </p:nvSpPr>
        <p:spPr>
          <a:xfrm>
            <a:off x="13563599" y="7124700"/>
            <a:ext cx="457200" cy="533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6BC68-990B-66EF-AD4D-8CE519F964E8}"/>
              </a:ext>
            </a:extLst>
          </p:cNvPr>
          <p:cNvSpPr txBox="1"/>
          <p:nvPr/>
        </p:nvSpPr>
        <p:spPr>
          <a:xfrm>
            <a:off x="4800600" y="9326866"/>
            <a:ext cx="4964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 err="1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Potencial</a:t>
            </a:r>
            <a:r>
              <a:rPr lang="en-US" sz="2400" u="sng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u="sng" dirty="0" err="1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Sesgo</a:t>
            </a:r>
            <a:r>
              <a:rPr lang="en-US" sz="2400" u="sng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en-US" sz="2400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confusión</a:t>
            </a:r>
            <a:endParaRPr lang="en-US" sz="2400" dirty="0">
              <a:solidFill>
                <a:srgbClr val="FFFF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26766F-7BE9-A893-5E1D-88A1B530FB57}"/>
              </a:ext>
            </a:extLst>
          </p:cNvPr>
          <p:cNvSpPr txBox="1"/>
          <p:nvPr/>
        </p:nvSpPr>
        <p:spPr>
          <a:xfrm>
            <a:off x="11811000" y="9399627"/>
            <a:ext cx="5572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 err="1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Potencial</a:t>
            </a:r>
            <a:r>
              <a:rPr lang="en-US" sz="2400" u="sng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u="sng" dirty="0" err="1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Sesgo</a:t>
            </a:r>
            <a:r>
              <a:rPr lang="en-US" sz="2400" u="sng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en-US" sz="2400" dirty="0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selección</a:t>
            </a:r>
            <a:endParaRPr lang="en-US" sz="2400" dirty="0">
              <a:solidFill>
                <a:srgbClr val="FFFF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CAF19461-BE5A-1DB7-EDAE-6951E4BE89D6}"/>
              </a:ext>
            </a:extLst>
          </p:cNvPr>
          <p:cNvSpPr/>
          <p:nvPr/>
        </p:nvSpPr>
        <p:spPr>
          <a:xfrm>
            <a:off x="6400800" y="8603397"/>
            <a:ext cx="457200" cy="533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EE006B1A-956B-0471-6F9A-30E754309595}"/>
              </a:ext>
            </a:extLst>
          </p:cNvPr>
          <p:cNvSpPr/>
          <p:nvPr/>
        </p:nvSpPr>
        <p:spPr>
          <a:xfrm>
            <a:off x="13563599" y="8633877"/>
            <a:ext cx="457200" cy="53340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53656D-8194-517F-549D-247C42BA321E}"/>
              </a:ext>
            </a:extLst>
          </p:cNvPr>
          <p:cNvSpPr txBox="1"/>
          <p:nvPr/>
        </p:nvSpPr>
        <p:spPr>
          <a:xfrm>
            <a:off x="4571999" y="9194171"/>
            <a:ext cx="914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⚠️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4861B3-A08B-6BAB-E63A-40980C969382}"/>
              </a:ext>
            </a:extLst>
          </p:cNvPr>
          <p:cNvSpPr txBox="1"/>
          <p:nvPr/>
        </p:nvSpPr>
        <p:spPr>
          <a:xfrm>
            <a:off x="11963400" y="9228832"/>
            <a:ext cx="914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⚠️</a:t>
            </a:r>
          </a:p>
        </p:txBody>
      </p:sp>
    </p:spTree>
    <p:extLst>
      <p:ext uri="{BB962C8B-B14F-4D97-AF65-F5344CB8AC3E}">
        <p14:creationId xmlns:p14="http://schemas.microsoft.com/office/powerpoint/2010/main" val="1047696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583</Words>
  <Application>Microsoft Office PowerPoint</Application>
  <PresentationFormat>Custom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Poppins</vt:lpstr>
      <vt:lpstr>Calibri</vt:lpstr>
      <vt:lpstr>Arial</vt:lpstr>
      <vt:lpstr>Aptos</vt:lpstr>
      <vt:lpstr>Wingdings</vt:lpstr>
      <vt:lpstr>Lato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Elegant and Modern Startup Pitch Deck Presentation</dc:title>
  <cp:lastModifiedBy>Yair Barnatan</cp:lastModifiedBy>
  <cp:revision>14</cp:revision>
  <dcterms:created xsi:type="dcterms:W3CDTF">2006-08-16T00:00:00Z</dcterms:created>
  <dcterms:modified xsi:type="dcterms:W3CDTF">2025-12-17T15:12:14Z</dcterms:modified>
  <dc:identifier>DAG69JZo0Fw</dc:identifier>
</cp:coreProperties>
</file>
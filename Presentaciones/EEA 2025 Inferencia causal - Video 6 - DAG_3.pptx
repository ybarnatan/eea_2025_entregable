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Poppins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h/NbJXF/G57ryd9CUrxUpHE7et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regular.fntdata"/><Relationship Id="rId10" Type="http://schemas.openxmlformats.org/officeDocument/2006/relationships/slide" Target="slides/slide5.xml"/><Relationship Id="rId13" Type="http://schemas.openxmlformats.org/officeDocument/2006/relationships/font" Target="fonts/Poppins-italic.fntdata"/><Relationship Id="rId12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928665" y="501036"/>
            <a:ext cx="16598104" cy="1140089"/>
            <a:chOff x="0" y="-38100"/>
            <a:chExt cx="4371517" cy="300270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4371517" cy="262170"/>
            </a:xfrm>
            <a:custGeom>
              <a:rect b="b" l="l" r="r" t="t"/>
              <a:pathLst>
                <a:path extrusionOk="0" h="262170" w="4371517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38100">
              <a:solidFill>
                <a:srgbClr val="E5E1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5651837" y="289333"/>
            <a:ext cx="12112509" cy="8707633"/>
          </a:xfrm>
          <a:custGeom>
            <a:rect b="b" l="l" r="r" t="t"/>
            <a:pathLst>
              <a:path extrusionOk="0" h="8707633" w="12112509">
                <a:moveTo>
                  <a:pt x="0" y="0"/>
                </a:moveTo>
                <a:lnTo>
                  <a:pt x="12112509" y="0"/>
                </a:lnTo>
                <a:lnTo>
                  <a:pt x="12112509" y="8707633"/>
                </a:lnTo>
                <a:lnTo>
                  <a:pt x="0" y="87076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4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816668" y="9040779"/>
            <a:ext cx="1080000" cy="1080000"/>
          </a:xfrm>
          <a:custGeom>
            <a:rect b="b" l="l" r="r" t="t"/>
            <a:pathLst>
              <a:path extrusionOk="0"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171305" y="879197"/>
            <a:ext cx="528429" cy="528429"/>
          </a:xfrm>
          <a:custGeom>
            <a:rect b="b" l="l" r="r" t="t"/>
            <a:pathLst>
              <a:path extrusionOk="0" h="528429" w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9227717" y="1932012"/>
            <a:ext cx="11411477" cy="3849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1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s-AR" sz="72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INFERENCIA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21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s-AR" sz="72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          CAUSAL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816668" y="7744880"/>
            <a:ext cx="1080000" cy="1080000"/>
          </a:xfrm>
          <a:custGeom>
            <a:rect b="b" l="l" r="r" t="t"/>
            <a:pathLst>
              <a:path extrusionOk="0"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896668" y="882426"/>
            <a:ext cx="11554591" cy="420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AR" sz="2000" u="none" cap="none" strike="noStrike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ENFOQUE ESTADISTICO DEL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928665" y="3921903"/>
            <a:ext cx="12522594" cy="27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Autores: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5E1DA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Yair Barnatan</a:t>
            </a:r>
            <a:endParaRPr b="0" i="0" sz="3200" u="none" cap="none" strike="noStrike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57200" lvl="2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5E1DA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Augusto Rey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1DA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Germán Samartino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2133600" y="9436118"/>
            <a:ext cx="13868400" cy="4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Maestría en Explotación de Datos y Descubrimiento del Conocimiento - UBA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6154400" y="899754"/>
            <a:ext cx="11554591" cy="487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AR" sz="3600" u="none" cap="none" strike="noStrike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2209800" y="8012272"/>
            <a:ext cx="13868400" cy="4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AR" sz="2800" u="sng" cap="none" strike="noStrike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Github: </a:t>
            </a:r>
            <a:r>
              <a:rPr b="0" i="0" lang="es-AR" sz="2800" u="none" cap="none" strike="noStrike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ver descripción del 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684774" y="1181100"/>
            <a:ext cx="169185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i="0" lang="es-AR" sz="65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Pregunta surgida del </a:t>
            </a:r>
            <a:r>
              <a:rPr b="1" lang="es-AR" sz="65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segundo</a:t>
            </a:r>
            <a:r>
              <a:rPr b="1" i="0" lang="es-AR" sz="65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662853" y="2496825"/>
            <a:ext cx="16918452" cy="864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958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4800"/>
              <a:buFont typeface="Poppins"/>
              <a:buNone/>
            </a:pPr>
            <a:r>
              <a:rPr b="1" i="0" lang="es-AR" sz="48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Pregunta causal: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838200" y="3917352"/>
            <a:ext cx="1577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¿Por qué la edad disminuye el consumo de alcohol?</a:t>
            </a:r>
            <a:endParaRPr sz="3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38138" y="5581350"/>
            <a:ext cx="1577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Lato"/>
              <a:buNone/>
            </a:pP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¿Es solo biología, o es que también cambian sus hábitos de vida?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837174" y="896147"/>
            <a:ext cx="16918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407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5400"/>
              <a:buFont typeface="Poppins"/>
              <a:buNone/>
            </a:pPr>
            <a:r>
              <a:rPr b="1" lang="es-AR" sz="54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Mediacion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1066800" y="2089675"/>
            <a:ext cx="15774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5"/>
          <p:cNvPicPr preferRelativeResize="0"/>
          <p:nvPr/>
        </p:nvPicPr>
        <p:blipFill rotWithShape="1">
          <a:blip r:embed="rId4">
            <a:alphaModFix/>
          </a:blip>
          <a:srcRect b="0" l="268" r="268" t="0"/>
          <a:stretch/>
        </p:blipFill>
        <p:spPr>
          <a:xfrm>
            <a:off x="4630925" y="2892450"/>
            <a:ext cx="8646052" cy="617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 flipH="1" rot="6623956">
            <a:off x="13698409" y="-604090"/>
            <a:ext cx="14375510" cy="8829170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684774" y="1181100"/>
            <a:ext cx="169185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i="0" lang="es-AR" sz="65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Resultados</a:t>
            </a:r>
            <a:endParaRPr b="1" i="0" sz="6500" u="none" cap="none" strike="noStrike">
              <a:solidFill>
                <a:srgbClr val="FBF9F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10498650" y="3132675"/>
            <a:ext cx="62970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-"/>
            </a:pPr>
            <a:r>
              <a:rPr lang="es-A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coef_total &lt;- coef(m_total)["edad"]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-"/>
            </a:pPr>
            <a:r>
              <a:rPr lang="es-A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coef_directo &lt;- coef(m_directo)["edad"]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-"/>
            </a:pPr>
            <a:r>
              <a:rPr lang="es-A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porcentaje_mediado &lt;- (coef_total - coef_directo) / coef_total * 100</a:t>
            </a:r>
            <a:r>
              <a:rPr b="0" i="0" lang="es-A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2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s-AR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porcentaje_mediado</a:t>
            </a:r>
            <a:r>
              <a:rPr b="0" i="0" lang="es-AR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AR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29.8 %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955750" y="2964400"/>
            <a:ext cx="8829600" cy="55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6" title="5_chain_conclus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1485" y="2964400"/>
            <a:ext cx="8813230" cy="550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684774" y="1181100"/>
            <a:ext cx="16918452" cy="92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i="0" lang="es-AR" sz="65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Problematización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990600" y="3501133"/>
            <a:ext cx="1646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None/>
            </a:pPr>
            <a:r>
              <a:rPr lang="es-AR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¿qué pasa si controlamos por la variable equivocada?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
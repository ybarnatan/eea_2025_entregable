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Poppins"/>
      <p:bold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ji6QBH2GwAKVJkp7r/aEhfZ2pT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bold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928665" y="501036"/>
            <a:ext cx="16598104" cy="1140089"/>
            <a:chOff x="0" y="-38100"/>
            <a:chExt cx="4371517" cy="300270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4371517" cy="262170"/>
            </a:xfrm>
            <a:custGeom>
              <a:rect b="b" l="l" r="r" t="t"/>
              <a:pathLst>
                <a:path extrusionOk="0" h="262170" w="4371517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38100">
              <a:solidFill>
                <a:srgbClr val="E5E1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>
            <a:off x="5651837" y="289333"/>
            <a:ext cx="12112509" cy="8707633"/>
          </a:xfrm>
          <a:custGeom>
            <a:rect b="b" l="l" r="r" t="t"/>
            <a:pathLst>
              <a:path extrusionOk="0" h="8707633" w="12112509">
                <a:moveTo>
                  <a:pt x="0" y="0"/>
                </a:moveTo>
                <a:lnTo>
                  <a:pt x="12112509" y="0"/>
                </a:lnTo>
                <a:lnTo>
                  <a:pt x="12112509" y="8707633"/>
                </a:lnTo>
                <a:lnTo>
                  <a:pt x="0" y="87076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4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816668" y="9040779"/>
            <a:ext cx="1080000" cy="1080000"/>
          </a:xfrm>
          <a:custGeom>
            <a:rect b="b" l="l" r="r" t="t"/>
            <a:pathLst>
              <a:path extrusionOk="0"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171305" y="879197"/>
            <a:ext cx="528429" cy="528429"/>
          </a:xfrm>
          <a:custGeom>
            <a:rect b="b" l="l" r="r" t="t"/>
            <a:pathLst>
              <a:path extrusionOk="0" h="528429" w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9227717" y="1932012"/>
            <a:ext cx="11411477" cy="3849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16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72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INFERENCIA </a:t>
            </a:r>
            <a:endParaRPr/>
          </a:p>
          <a:p>
            <a:pPr indent="0" lvl="0" marL="0" marR="0" rtl="0" algn="l">
              <a:lnSpc>
                <a:spcPct val="2216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72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          CAUSAL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816668" y="7744880"/>
            <a:ext cx="1080000" cy="1080000"/>
          </a:xfrm>
          <a:custGeom>
            <a:rect b="b" l="l" r="r" t="t"/>
            <a:pathLst>
              <a:path extrusionOk="0"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896668" y="882426"/>
            <a:ext cx="11554591" cy="420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ENFOQUE ESTADISTICO DEL APRENDIZAJE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928665" y="3921903"/>
            <a:ext cx="12522594" cy="27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Autores:</a:t>
            </a:r>
            <a:endParaRPr/>
          </a:p>
          <a:p>
            <a:pPr indent="-457200" lvl="2" marL="1371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5E1DA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Yair Barnatan</a:t>
            </a:r>
            <a:endParaRPr b="0" i="0" sz="3200" u="none" cap="none" strike="noStrike">
              <a:solidFill>
                <a:srgbClr val="E5E1D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57200" lvl="2" marL="1371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5E1DA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Augusto Rey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E5E1DA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Germán Samartino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E5E1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2133600" y="9436118"/>
            <a:ext cx="13868400" cy="4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Maestría en Explotación de Datos y Descubrimiento del Conocimiento - UBA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16154400" y="899754"/>
            <a:ext cx="11554591" cy="487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6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2025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2209800" y="8012272"/>
            <a:ext cx="13868400" cy="4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 u="sng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Github: </a:t>
            </a:r>
            <a:r>
              <a:rPr lang="es-AR" sz="28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ver descripción del video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65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Origen de los datos: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457200" y="2498324"/>
            <a:ext cx="15774426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Encuesta Nacional sobre Consumos y Prácticas de Cuidado 2022 (ENCoPraC)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1160745" y="3355235"/>
            <a:ext cx="16078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Link al sitio: https://www.datos.gob.ar/dataset/sedronar-encuesta-nacional-sobre-consumo-practicas-cuidado-encoprac---2022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84774" y="5070841"/>
            <a:ext cx="16918452" cy="92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i="0" lang="es-AR" sz="65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Objetivo general: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913887" y="6594841"/>
            <a:ext cx="1646022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None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El objetivo general de este trabajo es adentrarnos en cuáles pueden ser las causas o factores más influyentes en el aumento del consumo de alcohol en la población encuestada.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684774" y="1181100"/>
            <a:ext cx="16918452" cy="92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i="0" lang="es-AR" sz="65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Primer abordaje al problema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662853" y="2496825"/>
            <a:ext cx="16918452" cy="864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958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4800"/>
              <a:buFont typeface="Poppins"/>
              <a:buNone/>
            </a:pPr>
            <a:r>
              <a:rPr b="1" i="0" lang="es-AR" sz="48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Pregunta causal: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838200" y="3917352"/>
            <a:ext cx="15774426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¿Cómo influye la asistencia a eventos sociales en el consumo de alcohol de una persona?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684774" y="5159353"/>
            <a:ext cx="16918452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958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4800"/>
              <a:buFont typeface="Poppins"/>
              <a:buNone/>
            </a:pPr>
            <a:r>
              <a:rPr b="1" i="0" lang="es-AR" sz="48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Hipótesis causal: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838200" y="6591300"/>
            <a:ext cx="15774426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Lato"/>
              <a:buNone/>
            </a:pPr>
            <a:r>
              <a:rPr b="0" i="0" lang="es-AR" sz="3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 individuo que tiene una alta concurrencia a eventos sociales, es más propenso a tener altos consumos de alcohol.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837174" y="896147"/>
            <a:ext cx="16918452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407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5400"/>
              <a:buFont typeface="Poppins"/>
              <a:buNone/>
            </a:pPr>
            <a:r>
              <a:rPr b="1" i="0" lang="es-AR" sz="54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Variable respuesta: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826736" y="4756343"/>
            <a:ext cx="16918452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407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5400"/>
              <a:buFont typeface="Poppins"/>
              <a:buNone/>
            </a:pPr>
            <a:r>
              <a:rPr b="1" i="0" lang="es-AR" sz="54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Variable explicativa: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1066800" y="2089675"/>
            <a:ext cx="15774426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A: índice de consumo de alcohol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1066800" y="5981700"/>
            <a:ext cx="15774426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b="0" i="0" lang="es-AR" sz="3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índice de asistencia a eventos sociales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837174" y="896147"/>
            <a:ext cx="16918452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407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5400"/>
              <a:buFont typeface="Poppins"/>
              <a:buNone/>
            </a:pPr>
            <a:r>
              <a:rPr b="1" i="0" lang="es-AR" sz="54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Variable respuesta:</a:t>
            </a:r>
            <a:endParaRPr/>
          </a:p>
        </p:txBody>
      </p:sp>
      <p:sp>
        <p:nvSpPr>
          <p:cNvPr id="146" name="Google Shape;146;p5"/>
          <p:cNvSpPr txBox="1"/>
          <p:nvPr/>
        </p:nvSpPr>
        <p:spPr>
          <a:xfrm>
            <a:off x="826736" y="4756343"/>
            <a:ext cx="16918452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407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5400"/>
              <a:buFont typeface="Poppins"/>
              <a:buNone/>
            </a:pPr>
            <a:r>
              <a:rPr b="1" i="0" lang="es-AR" sz="54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Variable explicativa:</a:t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1066800" y="2089675"/>
            <a:ext cx="15774426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A: índice de consumo de alcohol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1066800" y="5981700"/>
            <a:ext cx="15774426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b="0" i="0" lang="es-AR" sz="3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índice de asistencia a eventos sociales</a:t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8686800" y="800103"/>
            <a:ext cx="457200" cy="6248395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10209774" y="3051906"/>
            <a:ext cx="6631452" cy="180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407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5400"/>
              <a:buFont typeface="Poppins"/>
              <a:buNone/>
            </a:pPr>
            <a:r>
              <a:rPr b="1" i="0" lang="es-AR" sz="54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Indicadores calculados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684774" y="1181100"/>
            <a:ext cx="16918452" cy="92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lang="es-AR" sz="65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DAG:</a:t>
            </a:r>
            <a:endParaRPr b="1" i="0" sz="6500" u="none" cap="none" strike="noStrike">
              <a:solidFill>
                <a:srgbClr val="FBF9F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60" name="Google Shape;160;p6"/>
          <p:cNvSpPr txBox="1"/>
          <p:nvPr/>
        </p:nvSpPr>
        <p:spPr>
          <a:xfrm>
            <a:off x="10134600" y="5796210"/>
            <a:ext cx="1295400" cy="92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lang="es-AR" sz="65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b="1" i="0" sz="6500" u="none" cap="none" strike="noStrike">
              <a:solidFill>
                <a:srgbClr val="FBF9F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5791200" y="5795323"/>
            <a:ext cx="1295400" cy="92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lang="es-AR" sz="65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endParaRPr b="1" i="0" sz="6500" u="none" cap="none" strike="noStrike">
              <a:solidFill>
                <a:srgbClr val="FBF9F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62" name="Google Shape;162;p6"/>
          <p:cNvCxnSpPr/>
          <p:nvPr/>
        </p:nvCxnSpPr>
        <p:spPr>
          <a:xfrm>
            <a:off x="6553200" y="6187399"/>
            <a:ext cx="3276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3" name="Google Shape;163;p6"/>
          <p:cNvSpPr txBox="1"/>
          <p:nvPr/>
        </p:nvSpPr>
        <p:spPr>
          <a:xfrm>
            <a:off x="1066800" y="2725298"/>
            <a:ext cx="15774426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A: índice de consumo de alcohol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1066800" y="3607274"/>
            <a:ext cx="15774426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b="0" i="0" lang="es-AR" sz="3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índice de asistencia a eventos sociales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684774" y="1181100"/>
            <a:ext cx="16918452" cy="92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i="0" lang="es-AR" sz="65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Estimación del efecto causal</a:t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74" name="Google Shape;174;p7"/>
          <p:cNvSpPr txBox="1"/>
          <p:nvPr/>
        </p:nvSpPr>
        <p:spPr>
          <a:xfrm>
            <a:off x="1692030" y="2896023"/>
            <a:ext cx="3159160" cy="85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4400"/>
              <a:buFont typeface="Poppins"/>
              <a:buNone/>
            </a:pPr>
            <a:r>
              <a:rPr b="1" lang="es-AR" sz="44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Modelo:</a:t>
            </a:r>
            <a:endParaRPr b="1" i="0" sz="4400" u="none" cap="none" strike="noStrike">
              <a:solidFill>
                <a:srgbClr val="FBF9F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Texto&#10;&#10;El contenido generado por IA puede ser incorrecto." id="175" name="Google Shape;17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9040" y="4185072"/>
            <a:ext cx="11342205" cy="92589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 txBox="1"/>
          <p:nvPr/>
        </p:nvSpPr>
        <p:spPr>
          <a:xfrm>
            <a:off x="1700381" y="5225649"/>
            <a:ext cx="4191000" cy="85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4400"/>
              <a:buFont typeface="Poppins"/>
              <a:buNone/>
            </a:pPr>
            <a:r>
              <a:rPr b="1" lang="es-AR" sz="44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Resultados:</a:t>
            </a:r>
            <a:endParaRPr b="1" i="0" sz="4400" u="none" cap="none" strike="noStrike">
              <a:solidFill>
                <a:srgbClr val="FBF9F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Interfaz de usuario gráfica&#10;&#10;El contenido generado por IA puede ser incorrecto." id="177" name="Google Shape;17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56754" y="6362700"/>
            <a:ext cx="11374491" cy="1368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684774" y="1181100"/>
            <a:ext cx="16918452" cy="92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i="0" lang="es-AR" sz="65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Estimación del efecto causal</a:t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87" name="Google Shape;187;p8"/>
          <p:cNvSpPr txBox="1"/>
          <p:nvPr/>
        </p:nvSpPr>
        <p:spPr>
          <a:xfrm>
            <a:off x="1600200" y="2285204"/>
            <a:ext cx="4191000" cy="85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4400"/>
              <a:buFont typeface="Poppins"/>
              <a:buNone/>
            </a:pPr>
            <a:r>
              <a:rPr b="1" lang="es-AR" sz="44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Resultados:</a:t>
            </a:r>
            <a:endParaRPr b="1" i="0" sz="4400" u="none" cap="none" strike="noStrike">
              <a:solidFill>
                <a:srgbClr val="FBF9F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Diagrama&#10;&#10;El contenido generado por IA puede ser incorrecto." id="188" name="Google Shape;18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9600" y="3431138"/>
            <a:ext cx="8610600" cy="5381625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684774" y="1181100"/>
            <a:ext cx="16918452" cy="92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i="0" lang="es-AR" sz="65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Problematización</a:t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98" name="Google Shape;198;p9"/>
          <p:cNvSpPr txBox="1"/>
          <p:nvPr/>
        </p:nvSpPr>
        <p:spPr>
          <a:xfrm>
            <a:off x="990600" y="3501133"/>
            <a:ext cx="16460226" cy="3508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None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Este coeficiente de 1,40, ¿Esta dando cuenta del efecto causal real que influye en las índices de consumo de alcohol?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None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¿Podemos conformarnos con que exista una correlación entre ambas variables para afirmar que existe causalidad?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None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¿Existe acaso alguna otra variable que esta implicada en el índice de consumo de alcohol de una persona?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None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¿Hay algún tipo de sesgo que este mediando en esta relación causal?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/>
          <p:nvPr/>
        </p:nvSpPr>
        <p:spPr>
          <a:xfrm rot="10435729">
            <a:off x="-1933556" y="-5811836"/>
            <a:ext cx="7951775" cy="8527373"/>
          </a:xfrm>
          <a:custGeom>
            <a:rect b="b" l="l" r="r" t="t"/>
            <a:pathLst>
              <a:path extrusionOk="0"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
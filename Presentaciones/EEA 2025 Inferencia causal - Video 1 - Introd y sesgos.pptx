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71" r:id="rId4"/>
    <p:sldId id="272" r:id="rId5"/>
    <p:sldId id="273" r:id="rId6"/>
    <p:sldId id="274" r:id="rId7"/>
    <p:sldId id="275" r:id="rId8"/>
    <p:sldId id="277" r:id="rId9"/>
    <p:sldId id="279" r:id="rId10"/>
    <p:sldId id="276" r:id="rId11"/>
    <p:sldId id="280" r:id="rId12"/>
    <p:sldId id="281" r:id="rId13"/>
    <p:sldId id="278" r:id="rId14"/>
  </p:sldIdLst>
  <p:sldSz cx="18288000" cy="10287000"/>
  <p:notesSz cx="6858000" cy="9144000"/>
  <p:embeddedFontLst>
    <p:embeddedFont>
      <p:font typeface="Lato" panose="020F0502020204030203" pitchFamily="34" charset="0"/>
      <p:regular r:id="rId16"/>
      <p:bold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Bold" panose="00000800000000000000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5472" autoAdjust="0"/>
  </p:normalViewPr>
  <p:slideViewPr>
    <p:cSldViewPr>
      <p:cViewPr varScale="1">
        <p:scale>
          <a:sx n="46" d="100"/>
          <a:sy n="46" d="100"/>
        </p:scale>
        <p:origin x="403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E77D0-9D72-4BA5-8224-4DA721B36FA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0B776-386F-4D6A-9A97-6829A1F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5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87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3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7DA3-D403-3534-9332-A8B0C8C5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DCD84-8579-7B76-016A-E090870F1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E373D-8264-2E30-4BEE-1802A298D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4E339-94DC-B189-E9C5-0065453A2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7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EA792-ABC1-9083-91A6-168AB3605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B6090-BCE2-75F0-8CFC-8615996D8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315CC-836D-10ED-ACA3-55F1559D0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75FF9-E10F-524A-32DF-365361E20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2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21984-2CE6-2AB1-B048-572228926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0B197-E981-6801-C984-6E3857FE5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F7CC3-B965-72F2-E2FF-12A159083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59850-70E1-0F7D-3A8B-E20793192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01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4086-46BD-798B-20CF-F3A459D94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F0117-AFF6-C152-B661-6A9EB4108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A56D2-858A-5BDA-42BB-A96722193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E3CED-D158-5895-3611-6E187FC5B5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70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57235-7EE1-A7B3-A9E0-3EE9BA21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3AA0F-234B-7D86-E445-E56A80CF0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D246C-120A-A7D3-B010-48E1DC81A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C1B7B-FECB-5391-BC3E-A9F863946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38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825B-2FBF-FD17-7EBB-E56C48DC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CB837-323E-B2B9-4625-AAEFE3C34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BA919-7A96-2991-767C-EE04C0D3B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51447-86DE-30DD-CF5D-C993F8F1A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73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F3696-AE4E-83BD-64B3-63FBAA4EF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1D841-3F15-957D-CD7D-E5F32FCB6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2550E-56B9-00EE-A5D6-467EB72C4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782CB-A7E4-84B6-3B67-AE7C28C34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7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BA91E-FD7B-9E60-1005-409D41895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1AB6B2-DB21-8841-4AAC-CC4E781C9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E6CAB-514E-6A2B-2B1C-5A7E42B2E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9B1E4-038E-8329-5F34-B473F7BE6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098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32CA-87AD-5544-A912-4E23B1C25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CAD9D1-BFEF-1F29-BC39-1E99C15A3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23022-731F-52AC-A3F1-D24356462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C41AC-1CFD-E712-DDA4-10696B0C8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86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5D148-C699-B2D6-8258-6B4215D4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C9790-4348-23AD-3020-E42AFA20C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E3349-F81F-7C28-98C7-B9734EBED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D6C7A-99A7-22BB-C685-5DC78EB8D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17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62253-C952-BEEE-8996-8CB04E392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6FB89-9C63-1A00-3A31-58BC06E16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402D1-ED2D-0FAE-4707-131A2B65E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5E065-FD4B-FDF0-948B-E591383CC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91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665" y="645697"/>
            <a:ext cx="16598104" cy="995428"/>
            <a:chOff x="0" y="0"/>
            <a:chExt cx="4371517" cy="2621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1517" cy="262170"/>
            </a:xfrm>
            <a:custGeom>
              <a:avLst/>
              <a:gdLst/>
              <a:ahLst/>
              <a:cxnLst/>
              <a:rect l="l" t="t" r="r" b="b"/>
              <a:pathLst>
                <a:path w="4371517" h="262170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651837" y="289333"/>
            <a:ext cx="12112509" cy="8707633"/>
          </a:xfrm>
          <a:custGeom>
            <a:avLst/>
            <a:gdLst/>
            <a:ahLst/>
            <a:cxnLst/>
            <a:rect l="l" t="t" r="r" b="b"/>
            <a:pathLst>
              <a:path w="12112509" h="8707633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16668" y="9040779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71305" y="879197"/>
            <a:ext cx="528429" cy="528429"/>
          </a:xfrm>
          <a:custGeom>
            <a:avLst/>
            <a:gdLst/>
            <a:ahLst/>
            <a:cxnLst/>
            <a:rect l="l" t="t" r="r" b="b"/>
            <a:pathLst>
              <a:path w="528429" h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9227717" y="1932012"/>
            <a:ext cx="11411477" cy="3849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72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INFERENCIA </a:t>
            </a:r>
          </a:p>
          <a:p>
            <a:pPr algn="l">
              <a:lnSpc>
                <a:spcPts val="15959"/>
              </a:lnSpc>
            </a:pPr>
            <a:r>
              <a:rPr lang="en-US" sz="72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CAUSAL</a:t>
            </a:r>
          </a:p>
        </p:txBody>
      </p:sp>
      <p:sp>
        <p:nvSpPr>
          <p:cNvPr id="10" name="Freeform 10"/>
          <p:cNvSpPr/>
          <p:nvPr/>
        </p:nvSpPr>
        <p:spPr>
          <a:xfrm>
            <a:off x="816668" y="7744880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896668" y="882426"/>
            <a:ext cx="11554591" cy="420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ENFOQUE ESTADISTICO DEL APRENDIZAJE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8665" y="3921903"/>
            <a:ext cx="12522594" cy="2771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 err="1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Autores</a:t>
            </a:r>
            <a:r>
              <a:rPr lang="en-US" sz="3200" b="1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1371600" lvl="2" indent="-457200">
              <a:lnSpc>
                <a:spcPts val="44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E5E1DA"/>
                </a:solidFill>
                <a:latin typeface="Poppins"/>
                <a:cs typeface="Poppins"/>
                <a:sym typeface="Poppins"/>
              </a:rPr>
              <a:t>Yair Barnatan</a:t>
            </a:r>
          </a:p>
          <a:p>
            <a:pPr marL="1371600" lvl="2" indent="-457200">
              <a:lnSpc>
                <a:spcPts val="44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E5E1DA"/>
                </a:solidFill>
                <a:latin typeface="Poppins"/>
                <a:cs typeface="Poppins"/>
              </a:rPr>
              <a:t>Augusto Rey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E5E1DA"/>
                </a:solidFill>
                <a:latin typeface="Poppins"/>
                <a:cs typeface="Poppins"/>
              </a:rPr>
              <a:t>Germán Samartino 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 dirty="0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133600" y="9436118"/>
            <a:ext cx="138684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Maestría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Explotación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Datos y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Descubrimiento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Conocimiento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- UBA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0CDA9982-E591-E1E3-EC92-F7547397699D}"/>
              </a:ext>
            </a:extLst>
          </p:cNvPr>
          <p:cNvSpPr txBox="1"/>
          <p:nvPr/>
        </p:nvSpPr>
        <p:spPr>
          <a:xfrm>
            <a:off x="16154400" y="899754"/>
            <a:ext cx="11554591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2025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165DB789-2E57-E5F4-C2CB-8E6732020DF2}"/>
              </a:ext>
            </a:extLst>
          </p:cNvPr>
          <p:cNvSpPr txBox="1"/>
          <p:nvPr/>
        </p:nvSpPr>
        <p:spPr>
          <a:xfrm>
            <a:off x="2209800" y="8012272"/>
            <a:ext cx="138684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800" b="1" u="sng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Github</a:t>
            </a:r>
            <a:r>
              <a:rPr lang="en-US" sz="2800" b="1" u="sng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ver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descripción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del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84774" y="2657409"/>
            <a:ext cx="14098026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Motivación Central: La necesidad de responder preguntas causales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INTRODUCCION: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Inferencia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causal (IC)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3A539249-B59F-BEC0-5B98-63CBF040E0E7}"/>
              </a:ext>
            </a:extLst>
          </p:cNvPr>
          <p:cNvSpPr txBox="1"/>
          <p:nvPr/>
        </p:nvSpPr>
        <p:spPr>
          <a:xfrm>
            <a:off x="684774" y="4149638"/>
            <a:ext cx="14098026" cy="27828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Escenario posibles…</a:t>
            </a:r>
          </a:p>
          <a:p>
            <a:pPr>
              <a:lnSpc>
                <a:spcPts val="3080"/>
              </a:lnSpc>
              <a:spcBef>
                <a:spcPct val="0"/>
              </a:spcBef>
            </a:pPr>
            <a:endParaRPr lang="es-ES" sz="32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indent="-742950">
              <a:lnSpc>
                <a:spcPts val="3080"/>
              </a:lnSpc>
              <a:spcBef>
                <a:spcPct val="0"/>
              </a:spcBef>
              <a:buFont typeface="+mj-lt"/>
              <a:buAutoNum type="arabicPeriod"/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¿Fumar aumenta la probabilidad de tener </a:t>
            </a:r>
            <a:r>
              <a:rPr lang="es-ES" sz="32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cancer</a:t>
            </a: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de pulmón?</a:t>
            </a:r>
          </a:p>
          <a:p>
            <a:pPr marL="742950" indent="-742950">
              <a:lnSpc>
                <a:spcPts val="3080"/>
              </a:lnSpc>
              <a:spcBef>
                <a:spcPct val="0"/>
              </a:spcBef>
              <a:buFont typeface="+mj-lt"/>
              <a:buAutoNum type="arabicPeriod"/>
            </a:pPr>
            <a:endParaRPr lang="es-ES" sz="32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 marL="742950" indent="-742950">
              <a:lnSpc>
                <a:spcPts val="3080"/>
              </a:lnSpc>
              <a:spcBef>
                <a:spcPct val="0"/>
              </a:spcBef>
              <a:buFont typeface="+mj-lt"/>
              <a:buAutoNum type="arabicPeriod"/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¿La contaminación por mercurio en el lago X afecta la biodiversidad?</a:t>
            </a:r>
          </a:p>
          <a:p>
            <a:pPr marL="742950" indent="-742950">
              <a:lnSpc>
                <a:spcPts val="3080"/>
              </a:lnSpc>
              <a:spcBef>
                <a:spcPct val="0"/>
              </a:spcBef>
              <a:buFont typeface="+mj-lt"/>
              <a:buAutoNum type="arabicPeriod"/>
            </a:pPr>
            <a:endParaRPr lang="es-ES" sz="32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 marL="742950" indent="-742950">
              <a:lnSpc>
                <a:spcPts val="3080"/>
              </a:lnSpc>
              <a:spcBef>
                <a:spcPct val="0"/>
              </a:spcBef>
              <a:buFont typeface="+mj-lt"/>
              <a:buAutoNum type="arabicPeriod"/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¿La educación de las personas impacta en el salario?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04112-1A0E-DC47-5A35-4FD4A2931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3BC93A40-354F-A36A-FAAE-656951EA09B4}"/>
              </a:ext>
            </a:extLst>
          </p:cNvPr>
          <p:cNvGrpSpPr/>
          <p:nvPr/>
        </p:nvGrpSpPr>
        <p:grpSpPr>
          <a:xfrm>
            <a:off x="-1295400" y="-495300"/>
            <a:ext cx="20955000" cy="11201400"/>
            <a:chOff x="0" y="0"/>
            <a:chExt cx="3312548" cy="21431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2DD3959-5965-4A0F-0098-9263694F9B00}"/>
                </a:ext>
              </a:extLst>
            </p:cNvPr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5B6DE53-E4BE-7FEF-64BE-0235DA6AA8F8}"/>
                </a:ext>
              </a:extLst>
            </p:cNvPr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785E190-FDFB-1CC0-4F40-4B2F966356D9}"/>
              </a:ext>
            </a:extLst>
          </p:cNvPr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31EB17D-E4AA-2299-E11B-94D1BD53C247}"/>
              </a:ext>
            </a:extLst>
          </p:cNvPr>
          <p:cNvSpPr txBox="1"/>
          <p:nvPr/>
        </p:nvSpPr>
        <p:spPr>
          <a:xfrm>
            <a:off x="684774" y="2657409"/>
            <a:ext cx="14098026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Motivación Central: La necesidad de responder preguntas causales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C32E017A-70C0-01B4-8761-CCFF2788A66D}"/>
              </a:ext>
            </a:extLst>
          </p:cNvPr>
          <p:cNvSpPr txBox="1"/>
          <p:nvPr/>
        </p:nvSpPr>
        <p:spPr>
          <a:xfrm>
            <a:off x="684774" y="4868112"/>
            <a:ext cx="14098026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Estudios experimentales VS observacionales.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121FAEA-33DA-5FDD-FED7-ECC7C6C85751}"/>
              </a:ext>
            </a:extLst>
          </p:cNvPr>
          <p:cNvCxnSpPr/>
          <p:nvPr/>
        </p:nvCxnSpPr>
        <p:spPr>
          <a:xfrm>
            <a:off x="3352800" y="5372100"/>
            <a:ext cx="0" cy="10668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48F226-F660-ABE0-4A9F-0CD0004FD593}"/>
              </a:ext>
            </a:extLst>
          </p:cNvPr>
          <p:cNvCxnSpPr/>
          <p:nvPr/>
        </p:nvCxnSpPr>
        <p:spPr>
          <a:xfrm>
            <a:off x="7391400" y="5372100"/>
            <a:ext cx="0" cy="10668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9">
            <a:extLst>
              <a:ext uri="{FF2B5EF4-FFF2-40B4-BE49-F238E27FC236}">
                <a16:creationId xmlns:a16="http://schemas.microsoft.com/office/drawing/2014/main" id="{7C190080-A549-6699-CD0F-113E5BF1ABEE}"/>
              </a:ext>
            </a:extLst>
          </p:cNvPr>
          <p:cNvSpPr txBox="1"/>
          <p:nvPr/>
        </p:nvSpPr>
        <p:spPr>
          <a:xfrm>
            <a:off x="2361687" y="6545343"/>
            <a:ext cx="289611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Causalidad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96FDE905-7B73-E2D2-6DE3-0431409E605D}"/>
              </a:ext>
            </a:extLst>
          </p:cNvPr>
          <p:cNvSpPr txBox="1"/>
          <p:nvPr/>
        </p:nvSpPr>
        <p:spPr>
          <a:xfrm>
            <a:off x="6403386" y="6638034"/>
            <a:ext cx="289611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Asociación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8B012D70-2B46-9D89-5353-E447381179C8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INTRODUCCION: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Inferencia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causal (IC)</a:t>
            </a:r>
          </a:p>
        </p:txBody>
      </p:sp>
    </p:spTree>
    <p:extLst>
      <p:ext uri="{BB962C8B-B14F-4D97-AF65-F5344CB8AC3E}">
        <p14:creationId xmlns:p14="http://schemas.microsoft.com/office/powerpoint/2010/main" val="301696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BA59-B05B-CA5D-BF49-139048C4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E80FE81C-F121-A429-C2A1-3BE02B30F95C}"/>
              </a:ext>
            </a:extLst>
          </p:cNvPr>
          <p:cNvGrpSpPr/>
          <p:nvPr/>
        </p:nvGrpSpPr>
        <p:grpSpPr>
          <a:xfrm>
            <a:off x="-1295400" y="-495300"/>
            <a:ext cx="20955000" cy="11201400"/>
            <a:chOff x="0" y="0"/>
            <a:chExt cx="3312548" cy="21431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CF57272-D21F-8741-4BCA-2EB1382F9B6A}"/>
                </a:ext>
              </a:extLst>
            </p:cNvPr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959ABBA-3686-42B3-952E-B40E9DEB0C97}"/>
                </a:ext>
              </a:extLst>
            </p:cNvPr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AB3D05B-6D73-F771-2EE4-7D7DA4BF5E51}"/>
              </a:ext>
            </a:extLst>
          </p:cNvPr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5314C12C-E373-DF26-F17A-6EB7DA1E176A}"/>
              </a:ext>
            </a:extLst>
          </p:cNvPr>
          <p:cNvSpPr txBox="1"/>
          <p:nvPr/>
        </p:nvSpPr>
        <p:spPr>
          <a:xfrm>
            <a:off x="684774" y="2628900"/>
            <a:ext cx="14098026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Estudios experimentales VS observacionales.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0EDB0F4-F5B6-DFF0-A49F-CD1016A316DD}"/>
              </a:ext>
            </a:extLst>
          </p:cNvPr>
          <p:cNvCxnSpPr/>
          <p:nvPr/>
        </p:nvCxnSpPr>
        <p:spPr>
          <a:xfrm>
            <a:off x="3352800" y="3132888"/>
            <a:ext cx="0" cy="10668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9C7746-E943-09D7-8314-2D674192077C}"/>
              </a:ext>
            </a:extLst>
          </p:cNvPr>
          <p:cNvCxnSpPr/>
          <p:nvPr/>
        </p:nvCxnSpPr>
        <p:spPr>
          <a:xfrm>
            <a:off x="7391400" y="3132888"/>
            <a:ext cx="0" cy="10668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9">
            <a:extLst>
              <a:ext uri="{FF2B5EF4-FFF2-40B4-BE49-F238E27FC236}">
                <a16:creationId xmlns:a16="http://schemas.microsoft.com/office/drawing/2014/main" id="{85AE321D-78F4-DB6E-351C-853C805A9FE9}"/>
              </a:ext>
            </a:extLst>
          </p:cNvPr>
          <p:cNvSpPr txBox="1"/>
          <p:nvPr/>
        </p:nvSpPr>
        <p:spPr>
          <a:xfrm>
            <a:off x="2361687" y="4306131"/>
            <a:ext cx="289611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Causalidad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F5EB0F96-846D-5C29-0707-F618C94C31B9}"/>
              </a:ext>
            </a:extLst>
          </p:cNvPr>
          <p:cNvSpPr txBox="1"/>
          <p:nvPr/>
        </p:nvSpPr>
        <p:spPr>
          <a:xfrm>
            <a:off x="6403386" y="4398822"/>
            <a:ext cx="7312614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Asociación y causalidad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498B8B4-2FF1-4CEF-557D-16DB08BC3AEE}"/>
              </a:ext>
            </a:extLst>
          </p:cNvPr>
          <p:cNvCxnSpPr/>
          <p:nvPr/>
        </p:nvCxnSpPr>
        <p:spPr>
          <a:xfrm>
            <a:off x="7391400" y="4991100"/>
            <a:ext cx="0" cy="106680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9">
            <a:extLst>
              <a:ext uri="{FF2B5EF4-FFF2-40B4-BE49-F238E27FC236}">
                <a16:creationId xmlns:a16="http://schemas.microsoft.com/office/drawing/2014/main" id="{BC4B6DBA-790F-1720-CA52-E69AF2B91463}"/>
              </a:ext>
            </a:extLst>
          </p:cNvPr>
          <p:cNvSpPr txBox="1"/>
          <p:nvPr/>
        </p:nvSpPr>
        <p:spPr>
          <a:xfrm>
            <a:off x="2763285" y="6232686"/>
            <a:ext cx="12019513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s-E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La IC complementa la estadística y brinda herramientas esenciales para manejar la complejidad causal, particularmente cuando se analizan datos observacionales.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AC2A4D4A-5E07-E7DD-CA2D-3AD53F2F92C5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INTRODUCCION: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Inferencia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causal (IC)</a:t>
            </a:r>
          </a:p>
        </p:txBody>
      </p:sp>
    </p:spTree>
    <p:extLst>
      <p:ext uri="{BB962C8B-B14F-4D97-AF65-F5344CB8AC3E}">
        <p14:creationId xmlns:p14="http://schemas.microsoft.com/office/powerpoint/2010/main" val="3130731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F1F8A-FE03-EEBF-ACE6-6F8E07F5B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BB316A1E-A31D-C851-3CC8-D4CA8535CDCB}"/>
              </a:ext>
            </a:extLst>
          </p:cNvPr>
          <p:cNvGrpSpPr/>
          <p:nvPr/>
        </p:nvGrpSpPr>
        <p:grpSpPr>
          <a:xfrm>
            <a:off x="-1295400" y="-495300"/>
            <a:ext cx="20955000" cy="11201400"/>
            <a:chOff x="0" y="0"/>
            <a:chExt cx="3312548" cy="21431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345E126-F84C-FBAB-E2E9-FB92FD6A9E34}"/>
                </a:ext>
              </a:extLst>
            </p:cNvPr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6CA4A8D-0A40-B4C4-8F32-B46747CDAE1E}"/>
                </a:ext>
              </a:extLst>
            </p:cNvPr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3DC2D03-5C5A-87C5-DECE-8308A3D416FF}"/>
              </a:ext>
            </a:extLst>
          </p:cNvPr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639E7FBB-47F6-CD01-5A83-FE9551E5B7F9}"/>
              </a:ext>
            </a:extLst>
          </p:cNvPr>
          <p:cNvSpPr txBox="1"/>
          <p:nvPr/>
        </p:nvSpPr>
        <p:spPr>
          <a:xfrm>
            <a:off x="684774" y="2628900"/>
            <a:ext cx="14098026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Elementos</a:t>
            </a: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de la IC:</a:t>
            </a:r>
          </a:p>
          <a:p>
            <a:pPr>
              <a:spcBef>
                <a:spcPct val="0"/>
              </a:spcBef>
            </a:pP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 marL="571500" indent="-5715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Marco </a:t>
            </a: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teorico</a:t>
            </a: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y </a:t>
            </a: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matematico</a:t>
            </a: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para formular </a:t>
            </a: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preguntas</a:t>
            </a: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causales</a:t>
            </a: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Enfoque</a:t>
            </a: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Contrafactual (Rubin, 1974))</a:t>
            </a:r>
          </a:p>
          <a:p>
            <a:pPr>
              <a:spcBef>
                <a:spcPct val="0"/>
              </a:spcBef>
            </a:pPr>
            <a:endParaRPr lang="es-E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 marL="571500" indent="-5715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s-E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Herramientas gráficas, como los </a:t>
            </a:r>
            <a:r>
              <a:rPr lang="es-E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DAGs</a:t>
            </a:r>
            <a:r>
              <a:rPr lang="es-E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y las reglas de d-separación, que son cruciales para hallar el método correcto de análisis de los datos para inferir causalidad (Enfoque Gráfico (Pearl, 1980))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A14AB61A-5E1E-E69D-5429-ABA6AD833BAC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Inferencia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causal (IC)</a:t>
            </a:r>
          </a:p>
        </p:txBody>
      </p:sp>
    </p:spTree>
    <p:extLst>
      <p:ext uri="{BB962C8B-B14F-4D97-AF65-F5344CB8AC3E}">
        <p14:creationId xmlns:p14="http://schemas.microsoft.com/office/powerpoint/2010/main" val="1464499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0E04E-26F4-4599-E49D-AD0CF7DDD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0FAF79B2-B4A7-0BE6-7F77-88E82E62C68F}"/>
              </a:ext>
            </a:extLst>
          </p:cNvPr>
          <p:cNvGrpSpPr/>
          <p:nvPr/>
        </p:nvGrpSpPr>
        <p:grpSpPr>
          <a:xfrm>
            <a:off x="-1295400" y="-495300"/>
            <a:ext cx="20955000" cy="11201400"/>
            <a:chOff x="0" y="0"/>
            <a:chExt cx="3312548" cy="21431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B012571-A077-655E-4347-8827E14D1788}"/>
                </a:ext>
              </a:extLst>
            </p:cNvPr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C03D025-79F5-A68B-6F57-9DDFF2F03859}"/>
                </a:ext>
              </a:extLst>
            </p:cNvPr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307F197-5C08-FDB1-508D-9C5C6BAD8B09}"/>
              </a:ext>
            </a:extLst>
          </p:cNvPr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22C98965-FBD1-D4A7-F6E1-917680BDE6ED}"/>
              </a:ext>
            </a:extLst>
          </p:cNvPr>
          <p:cNvSpPr txBox="1"/>
          <p:nvPr/>
        </p:nvSpPr>
        <p:spPr>
          <a:xfrm>
            <a:off x="2743200" y="2818585"/>
            <a:ext cx="1409802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IC </a:t>
            </a: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ayuda</a:t>
            </a: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a </a:t>
            </a: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evitar</a:t>
            </a: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sesgos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>
              <a:spcBef>
                <a:spcPct val="0"/>
              </a:spcBef>
            </a:pP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DF89435-8A74-7D9C-E0E0-A18AEEA70E4E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Inferencia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causal (IC)</a:t>
            </a: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4D8F7F9A-A88A-9813-F762-FD2EC553D513}"/>
              </a:ext>
            </a:extLst>
          </p:cNvPr>
          <p:cNvSpPr txBox="1"/>
          <p:nvPr/>
        </p:nvSpPr>
        <p:spPr>
          <a:xfrm>
            <a:off x="2094987" y="4757984"/>
            <a:ext cx="1409802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Confusión</a:t>
            </a: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		</a:t>
            </a: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Selección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>
              <a:spcBef>
                <a:spcPct val="0"/>
              </a:spcBef>
            </a:pP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FBD635-6DFB-7E95-CF03-98DDC1920231}"/>
              </a:ext>
            </a:extLst>
          </p:cNvPr>
          <p:cNvCxnSpPr/>
          <p:nvPr/>
        </p:nvCxnSpPr>
        <p:spPr>
          <a:xfrm flipH="1">
            <a:off x="4038600" y="3467100"/>
            <a:ext cx="838200" cy="130993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F0BA21-CA07-DEE0-0E23-05DE6D701DAD}"/>
              </a:ext>
            </a:extLst>
          </p:cNvPr>
          <p:cNvCxnSpPr>
            <a:cxnSpLocks/>
          </p:cNvCxnSpPr>
          <p:nvPr/>
        </p:nvCxnSpPr>
        <p:spPr>
          <a:xfrm>
            <a:off x="4876800" y="3467100"/>
            <a:ext cx="838200" cy="130993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56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9BF02-B7EB-2221-E3B9-FE052213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00842A6C-50AD-4471-AA5E-8A65A4E20F71}"/>
              </a:ext>
            </a:extLst>
          </p:cNvPr>
          <p:cNvGrpSpPr/>
          <p:nvPr/>
        </p:nvGrpSpPr>
        <p:grpSpPr>
          <a:xfrm>
            <a:off x="-1295400" y="-495300"/>
            <a:ext cx="20955000" cy="11201400"/>
            <a:chOff x="0" y="0"/>
            <a:chExt cx="3312548" cy="21431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661E2A2-DD62-BB30-6431-6E65A13FED7D}"/>
                </a:ext>
              </a:extLst>
            </p:cNvPr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E177E36-7103-59BD-6C4B-A04677046238}"/>
                </a:ext>
              </a:extLst>
            </p:cNvPr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D30E21F-70AD-5462-09F5-6FFB387CD792}"/>
              </a:ext>
            </a:extLst>
          </p:cNvPr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F5095516-5729-BBC9-E2F5-7D90ACA26C79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Ejemplo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Sesgo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confusión</a:t>
            </a:r>
            <a:endParaRPr lang="en-US" sz="65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28A5A4-7427-0345-BF6F-1C0E22A81182}"/>
              </a:ext>
            </a:extLst>
          </p:cNvPr>
          <p:cNvSpPr txBox="1"/>
          <p:nvPr/>
        </p:nvSpPr>
        <p:spPr>
          <a:xfrm>
            <a:off x="665723" y="2332991"/>
            <a:ext cx="824967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Supongamos que queremos estudiar si </a:t>
            </a:r>
            <a:r>
              <a:rPr lang="es-E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tomar café</a:t>
            </a: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aumenta la </a:t>
            </a:r>
            <a:r>
              <a:rPr lang="es-E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productividad.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s-E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 hay diferencias entre los grupos.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s-E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9111D9-C021-1D90-2597-F8AFB551B8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08" r="50212"/>
          <a:stretch>
            <a:fillRect/>
          </a:stretch>
        </p:blipFill>
        <p:spPr>
          <a:xfrm>
            <a:off x="9372601" y="2552700"/>
            <a:ext cx="3276600" cy="63653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97E23AA-9396-90A4-DCD8-41122FADA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415" y="4133327"/>
            <a:ext cx="5529390" cy="228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3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4F0D4-C2DE-B471-B3F8-82B97C2E8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490B939-2587-0DE2-9053-E901E93240CE}"/>
              </a:ext>
            </a:extLst>
          </p:cNvPr>
          <p:cNvGrpSpPr/>
          <p:nvPr/>
        </p:nvGrpSpPr>
        <p:grpSpPr>
          <a:xfrm>
            <a:off x="-1295400" y="-495300"/>
            <a:ext cx="20955000" cy="11201400"/>
            <a:chOff x="0" y="0"/>
            <a:chExt cx="3312548" cy="21431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94729A6-D796-A3E8-D4A7-5735D9454D4F}"/>
                </a:ext>
              </a:extLst>
            </p:cNvPr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B465285-6EEA-D1DA-E8C3-0005736D6A03}"/>
                </a:ext>
              </a:extLst>
            </p:cNvPr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318EE78-9DBA-6AC3-8FF8-C34B7065C684}"/>
              </a:ext>
            </a:extLst>
          </p:cNvPr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E027EF2A-A024-9040-2293-6AA9740DF88E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Ejemplo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Sesgo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confusión</a:t>
            </a:r>
            <a:endParaRPr lang="en-US" sz="65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A95C7D-8B4A-6738-2736-54DD776ED870}"/>
              </a:ext>
            </a:extLst>
          </p:cNvPr>
          <p:cNvSpPr txBox="1"/>
          <p:nvPr/>
        </p:nvSpPr>
        <p:spPr>
          <a:xfrm>
            <a:off x="665723" y="2332991"/>
            <a:ext cx="824967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Supongamos que queremos estudiar si </a:t>
            </a:r>
            <a:r>
              <a:rPr lang="es-E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tomar café</a:t>
            </a: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aumenta la </a:t>
            </a:r>
            <a:r>
              <a:rPr lang="es-E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productividad.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s-E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 agregamos al análisis el efecto de otra variable</a:t>
            </a:r>
          </a:p>
          <a:p>
            <a:pPr algn="just"/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conclusión cambia.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1AC6447-69E3-CF68-D59A-25974D9636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733"/>
          <a:stretch>
            <a:fillRect/>
          </a:stretch>
        </p:blipFill>
        <p:spPr>
          <a:xfrm>
            <a:off x="9372600" y="2321303"/>
            <a:ext cx="6629399" cy="6596777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57A6BE-F7D3-BA04-4826-3F1FF1E57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4533900"/>
            <a:ext cx="7313125" cy="41120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C580E4-49F1-A9FA-3A18-6C392BB71E06}"/>
              </a:ext>
            </a:extLst>
          </p:cNvPr>
          <p:cNvSpPr/>
          <p:nvPr/>
        </p:nvSpPr>
        <p:spPr>
          <a:xfrm>
            <a:off x="1066800" y="7048500"/>
            <a:ext cx="5305055" cy="3048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40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76ED4-B779-E76A-8A1A-18DC3AF44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D456328A-1C68-3723-A486-DF1DF21D02E1}"/>
              </a:ext>
            </a:extLst>
          </p:cNvPr>
          <p:cNvGrpSpPr/>
          <p:nvPr/>
        </p:nvGrpSpPr>
        <p:grpSpPr>
          <a:xfrm>
            <a:off x="-1295400" y="-495300"/>
            <a:ext cx="20955000" cy="11201400"/>
            <a:chOff x="0" y="0"/>
            <a:chExt cx="3312548" cy="21431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925050C-0756-E7B7-FDDA-A3A8B3D26D68}"/>
                </a:ext>
              </a:extLst>
            </p:cNvPr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2B06FAB-986A-EADE-2A76-8D882A238A3F}"/>
                </a:ext>
              </a:extLst>
            </p:cNvPr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B635D7A-244F-9B88-A7CD-340613CB263C}"/>
              </a:ext>
            </a:extLst>
          </p:cNvPr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C176FD9C-E56B-CBE5-D511-78B34806C2C4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Ejemplo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Sesgo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confusión</a:t>
            </a:r>
            <a:endParaRPr lang="en-US" sz="65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AFB476-2FCA-1728-CF70-D58ED762AB4C}"/>
              </a:ext>
            </a:extLst>
          </p:cNvPr>
          <p:cNvSpPr txBox="1"/>
          <p:nvPr/>
        </p:nvSpPr>
        <p:spPr>
          <a:xfrm>
            <a:off x="665723" y="2332991"/>
            <a:ext cx="824967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Supongamos que queremos estudiar si </a:t>
            </a:r>
            <a:r>
              <a:rPr lang="es-E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tomar café</a:t>
            </a: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aumenta la </a:t>
            </a:r>
            <a:r>
              <a:rPr lang="es-E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productividad.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s-E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 agregamos al análisis el efecto de otra variable</a:t>
            </a:r>
          </a:p>
          <a:p>
            <a:pPr algn="just"/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conclusión cambia.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63F38A-FBBE-88AD-155D-4C2443707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4533900"/>
            <a:ext cx="7313125" cy="41120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0C06C04-EBFC-182E-51D6-5FF5AA9FE69C}"/>
              </a:ext>
            </a:extLst>
          </p:cNvPr>
          <p:cNvSpPr/>
          <p:nvPr/>
        </p:nvSpPr>
        <p:spPr>
          <a:xfrm>
            <a:off x="1066800" y="7048500"/>
            <a:ext cx="5305055" cy="3048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7A4E2-8577-CF96-A058-C9A8A9BF7292}"/>
              </a:ext>
            </a:extLst>
          </p:cNvPr>
          <p:cNvSpPr txBox="1"/>
          <p:nvPr/>
        </p:nvSpPr>
        <p:spPr>
          <a:xfrm>
            <a:off x="8628602" y="6860376"/>
            <a:ext cx="82496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 controlar por la </a:t>
            </a:r>
            <a:r>
              <a:rPr lang="es-ES" sz="28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confusora</a:t>
            </a: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HORAS_SUENO, eliminamos el sesgo de confusión.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Conclusión correcta: la productividad depende del sueño, no del café</a:t>
            </a:r>
            <a:endParaRPr lang="en-U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3817795-77FF-E4B9-1F8D-F8EF1A521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 controlar por la confusora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HORAS_SUENO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eliminamos el sesgo de confusión.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Ahora el efecto estimado de café refleja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relación directa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libre del efecto del sueño.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Conclusión correcta: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productividad depende del sueño, no del café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02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18A4E-D12C-777D-B244-76342545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2466E1F7-8857-066C-1B57-F9DEE77EEAE0}"/>
              </a:ext>
            </a:extLst>
          </p:cNvPr>
          <p:cNvGrpSpPr/>
          <p:nvPr/>
        </p:nvGrpSpPr>
        <p:grpSpPr>
          <a:xfrm>
            <a:off x="-1295400" y="-495300"/>
            <a:ext cx="20955000" cy="11201400"/>
            <a:chOff x="0" y="0"/>
            <a:chExt cx="3312548" cy="21431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00B93FD-1E4C-F447-0F81-612D56C2018B}"/>
                </a:ext>
              </a:extLst>
            </p:cNvPr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428E6EE-6A39-C98F-8096-8816A848FC8F}"/>
                </a:ext>
              </a:extLst>
            </p:cNvPr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374B619-5409-3E94-7FEB-B6C1235EB4F1}"/>
              </a:ext>
            </a:extLst>
          </p:cNvPr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6F0D21A6-949A-FA75-84C2-8AA19A551D5B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Ejemplo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Sesgo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selección</a:t>
            </a:r>
            <a:endParaRPr lang="en-US" sz="65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3CDFA9-B041-148E-AC89-BE1214C70EE9}"/>
              </a:ext>
            </a:extLst>
          </p:cNvPr>
          <p:cNvSpPr txBox="1"/>
          <p:nvPr/>
        </p:nvSpPr>
        <p:spPr>
          <a:xfrm>
            <a:off x="665723" y="2332991"/>
            <a:ext cx="824967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Supongamos que queremos estudiar si </a:t>
            </a:r>
            <a:r>
              <a:rPr lang="es-E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realizar actividad física disminuye el estrés.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s-E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 hay diferencias entre los grupos.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s-E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8" name="Picture 7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9A947717-B5A7-1395-2390-83E378E0D3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386"/>
          <a:stretch>
            <a:fillRect/>
          </a:stretch>
        </p:blipFill>
        <p:spPr>
          <a:xfrm>
            <a:off x="9714457" y="2476500"/>
            <a:ext cx="3620544" cy="731520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3717B4-6953-53B0-379E-4CA80C591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4888180"/>
            <a:ext cx="7223875" cy="15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15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22A36-7829-E8C1-D23C-373C9B474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6E121E2-AF08-5DA5-25AE-FBE274A3C083}"/>
              </a:ext>
            </a:extLst>
          </p:cNvPr>
          <p:cNvGrpSpPr/>
          <p:nvPr/>
        </p:nvGrpSpPr>
        <p:grpSpPr>
          <a:xfrm>
            <a:off x="-1295400" y="-495300"/>
            <a:ext cx="20955000" cy="11201400"/>
            <a:chOff x="0" y="0"/>
            <a:chExt cx="3312548" cy="21431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78FA020-2DF8-FA06-93A5-9FA04DCE835F}"/>
                </a:ext>
              </a:extLst>
            </p:cNvPr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3453023-1523-51CA-6017-797DC33109BB}"/>
                </a:ext>
              </a:extLst>
            </p:cNvPr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1B7E417-722F-FE46-0CC6-8D5EAC43F7DD}"/>
              </a:ext>
            </a:extLst>
          </p:cNvPr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F3666623-EAAC-2791-37D9-B5C862E6135E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Ejemplo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Sesgo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selección</a:t>
            </a:r>
            <a:endParaRPr lang="en-US" sz="65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BC8DAA-3EF8-A02C-DCAB-65752D2605E2}"/>
              </a:ext>
            </a:extLst>
          </p:cNvPr>
          <p:cNvSpPr txBox="1"/>
          <p:nvPr/>
        </p:nvSpPr>
        <p:spPr>
          <a:xfrm>
            <a:off x="665723" y="2332991"/>
            <a:ext cx="824967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Supongamos que queremos estudiar si </a:t>
            </a:r>
            <a:r>
              <a:rPr lang="es-E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realizar actividad física disminuye el estrés.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s-E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 agregamos al análisis individuos de la población en general, vemos el efecto de reducción del estrés gracias a hacer actividad física.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s-E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8" name="Picture 7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9EAC3E2B-98A1-5B70-EECB-30F022ABE3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27"/>
          <a:stretch>
            <a:fillRect/>
          </a:stretch>
        </p:blipFill>
        <p:spPr>
          <a:xfrm>
            <a:off x="9714456" y="2476500"/>
            <a:ext cx="7134877" cy="73152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6A28C7-D21A-C818-C383-BB40E72471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6164451"/>
            <a:ext cx="7134878" cy="151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26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40587-B426-A8C7-6E16-2968D64F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D8D439F8-C0C4-FF28-CD6E-A58A5B8FF948}"/>
              </a:ext>
            </a:extLst>
          </p:cNvPr>
          <p:cNvGrpSpPr/>
          <p:nvPr/>
        </p:nvGrpSpPr>
        <p:grpSpPr>
          <a:xfrm>
            <a:off x="-1295400" y="-495300"/>
            <a:ext cx="20955000" cy="11201400"/>
            <a:chOff x="0" y="0"/>
            <a:chExt cx="3312548" cy="21431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45F092F-8857-ABA3-90F9-B871B2D3D40D}"/>
                </a:ext>
              </a:extLst>
            </p:cNvPr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3C44DA0-602F-59B6-7AD0-A4385B76266B}"/>
                </a:ext>
              </a:extLst>
            </p:cNvPr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CCC8A0D-3266-AF71-2AF8-1CFBD1771EEF}"/>
              </a:ext>
            </a:extLst>
          </p:cNvPr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EA6245AC-896A-0C52-C144-7458A6D83380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Ejemplo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Sesgo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selección</a:t>
            </a:r>
            <a:endParaRPr lang="en-US" sz="65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378391-FEA5-FBAF-D08F-860F1DA9C75E}"/>
              </a:ext>
            </a:extLst>
          </p:cNvPr>
          <p:cNvSpPr txBox="1"/>
          <p:nvPr/>
        </p:nvSpPr>
        <p:spPr>
          <a:xfrm>
            <a:off x="665723" y="2332991"/>
            <a:ext cx="824967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Supongamos que queremos estudiar si </a:t>
            </a:r>
            <a:r>
              <a:rPr lang="es-E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realizar actividad física disminuye el estrés.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s-E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s-E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 agregamos al análisis individuos de la población en general, vemos el efecto de reducción del estrés gracias a hacer actividad física.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s-E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18442A-E355-A0C2-0868-06D882B3E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6164451"/>
            <a:ext cx="7134878" cy="151640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CB4075-7536-F0E3-7A7A-022EFA020706}"/>
              </a:ext>
            </a:extLst>
          </p:cNvPr>
          <p:cNvSpPr/>
          <p:nvPr/>
        </p:nvSpPr>
        <p:spPr>
          <a:xfrm>
            <a:off x="1066800" y="7429500"/>
            <a:ext cx="7211078" cy="3810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20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F352A-EF02-3D09-A979-C4F4AD5F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FDA9B82B-54C4-D8CB-3335-6CB822E2BF67}"/>
              </a:ext>
            </a:extLst>
          </p:cNvPr>
          <p:cNvGrpSpPr/>
          <p:nvPr/>
        </p:nvGrpSpPr>
        <p:grpSpPr>
          <a:xfrm>
            <a:off x="-1295400" y="-495300"/>
            <a:ext cx="20955000" cy="11201400"/>
            <a:chOff x="0" y="0"/>
            <a:chExt cx="3312548" cy="21431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DA45B54-1D48-3CB2-138D-23D7C488E57D}"/>
                </a:ext>
              </a:extLst>
            </p:cNvPr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012A785-57D6-5E89-30F1-342708DB45CC}"/>
                </a:ext>
              </a:extLst>
            </p:cNvPr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42027CB-C77D-B30B-57FC-28412E0D3C0F}"/>
              </a:ext>
            </a:extLst>
          </p:cNvPr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A8ECC266-0571-736A-1874-F2F3C13A45AF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Paradoja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Simpson</a:t>
            </a: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036D7174-999F-464E-D99C-A31DE26470C2}"/>
              </a:ext>
            </a:extLst>
          </p:cNvPr>
          <p:cNvSpPr txBox="1"/>
          <p:nvPr/>
        </p:nvSpPr>
        <p:spPr>
          <a:xfrm>
            <a:off x="1956544" y="2849728"/>
            <a:ext cx="1409802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IC </a:t>
            </a: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ayuda</a:t>
            </a: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a </a:t>
            </a: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evitar</a:t>
            </a: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sesgos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>
              <a:spcBef>
                <a:spcPct val="0"/>
              </a:spcBef>
            </a:pP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1F75F7DA-F6BC-F864-961D-C554DD57EC76}"/>
              </a:ext>
            </a:extLst>
          </p:cNvPr>
          <p:cNvSpPr txBox="1"/>
          <p:nvPr/>
        </p:nvSpPr>
        <p:spPr>
          <a:xfrm>
            <a:off x="1308331" y="4789127"/>
            <a:ext cx="1409802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Confusión</a:t>
            </a:r>
            <a:r>
              <a:rPr lang="en-US" sz="3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		</a:t>
            </a:r>
            <a:r>
              <a:rPr lang="en-US" sz="36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Selección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>
              <a:spcBef>
                <a:spcPct val="0"/>
              </a:spcBef>
            </a:pP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314253-2007-EED2-05F1-A66B2A78D420}"/>
              </a:ext>
            </a:extLst>
          </p:cNvPr>
          <p:cNvCxnSpPr/>
          <p:nvPr/>
        </p:nvCxnSpPr>
        <p:spPr>
          <a:xfrm flipH="1">
            <a:off x="3251944" y="3498243"/>
            <a:ext cx="838200" cy="130993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B988F2-6D58-EDB6-2E1D-F211A48955D5}"/>
              </a:ext>
            </a:extLst>
          </p:cNvPr>
          <p:cNvCxnSpPr>
            <a:cxnSpLocks/>
          </p:cNvCxnSpPr>
          <p:nvPr/>
        </p:nvCxnSpPr>
        <p:spPr>
          <a:xfrm>
            <a:off x="4090144" y="3498243"/>
            <a:ext cx="838200" cy="130993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Lugar De Trabajo Móvil Con El Café Y La Planta Fotos, retratos, imágenes y  fotografía de archivo libres de derecho. Image 37163929">
            <a:extLst>
              <a:ext uri="{FF2B5EF4-FFF2-40B4-BE49-F238E27FC236}">
                <a16:creationId xmlns:a16="http://schemas.microsoft.com/office/drawing/2014/main" id="{34BEB905-311A-43A3-B979-B1D4D1093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9456" y="5372284"/>
            <a:ext cx="3858631" cy="257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ómo afecta el estrés al rendimiento deportivo? | IUSPORT: EL OTRO LADO DEL  DEPORTE">
            <a:extLst>
              <a:ext uri="{FF2B5EF4-FFF2-40B4-BE49-F238E27FC236}">
                <a16:creationId xmlns:a16="http://schemas.microsoft.com/office/drawing/2014/main" id="{1B7BAE33-5076-F04A-BE41-59460946A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099" y="5372284"/>
            <a:ext cx="4574773" cy="257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5CA2E2-DDB8-E38D-8A6F-167836A4053B}"/>
              </a:ext>
            </a:extLst>
          </p:cNvPr>
          <p:cNvSpPr txBox="1"/>
          <p:nvPr/>
        </p:nvSpPr>
        <p:spPr>
          <a:xfrm>
            <a:off x="10746585" y="3115406"/>
            <a:ext cx="6106596" cy="338554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El </a:t>
            </a:r>
            <a:r>
              <a:rPr lang="en-US" sz="4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resultado</a:t>
            </a:r>
            <a:r>
              <a:rPr lang="en-US" sz="4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depende</a:t>
            </a:r>
            <a:r>
              <a:rPr lang="en-US" sz="4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del </a:t>
            </a:r>
            <a:r>
              <a:rPr lang="en-US" sz="4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análisis</a:t>
            </a:r>
            <a:r>
              <a:rPr lang="en-US" sz="4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y la </a:t>
            </a:r>
            <a:r>
              <a:rPr lang="en-US" sz="4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inclusión</a:t>
            </a:r>
            <a:r>
              <a:rPr lang="en-US" sz="4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de variables de </a:t>
            </a:r>
            <a:r>
              <a:rPr lang="en-US" sz="4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confusión</a:t>
            </a:r>
            <a:endParaRPr lang="en-US" sz="40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  <a:p>
            <a:pPr>
              <a:spcBef>
                <a:spcPct val="0"/>
              </a:spcBef>
            </a:pPr>
            <a:endParaRPr lang="en-US" sz="40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24774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521</Words>
  <Application>Microsoft Office PowerPoint</Application>
  <PresentationFormat>Custom</PresentationFormat>
  <Paragraphs>86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Lato</vt:lpstr>
      <vt:lpstr>Calibri</vt:lpstr>
      <vt:lpstr>Arial</vt:lpstr>
      <vt:lpstr>Aptos</vt:lpstr>
      <vt:lpstr>Poppins Bold</vt:lpstr>
      <vt:lpstr>Wingdings</vt:lpstr>
      <vt:lpstr>Poppins</vt:lpstr>
      <vt:lpstr>Arial Unicode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Elegant and Modern Startup Pitch Deck Presentation</dc:title>
  <cp:lastModifiedBy>Yair Barnatan</cp:lastModifiedBy>
  <cp:revision>8</cp:revision>
  <dcterms:created xsi:type="dcterms:W3CDTF">2006-08-16T00:00:00Z</dcterms:created>
  <dcterms:modified xsi:type="dcterms:W3CDTF">2025-12-17T15:10:51Z</dcterms:modified>
  <dc:identifier>DAG69JZo0Fw</dc:identifier>
</cp:coreProperties>
</file>
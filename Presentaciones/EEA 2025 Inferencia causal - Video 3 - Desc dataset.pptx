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oppins"/>
      <p:bold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WFZETpZVHbMd4H/GQYseLPnmP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8" Type="http://schemas.openxmlformats.org/officeDocument/2006/relationships/oleObject" Target="../embeddings/oleObject2.bin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928665" y="501036"/>
            <a:ext cx="16598104" cy="1140089"/>
            <a:chOff x="0" y="-38100"/>
            <a:chExt cx="4371517" cy="30027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4371517" cy="262170"/>
            </a:xfrm>
            <a:custGeom>
              <a:rect b="b" l="l" r="r" t="t"/>
              <a:pathLst>
                <a:path extrusionOk="0"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5E1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5651837" y="289333"/>
            <a:ext cx="12112509" cy="8707633"/>
          </a:xfrm>
          <a:custGeom>
            <a:rect b="b" l="l" r="r" t="t"/>
            <a:pathLst>
              <a:path extrusionOk="0"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16668" y="9040779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71305" y="879197"/>
            <a:ext cx="528429" cy="528429"/>
          </a:xfrm>
          <a:custGeom>
            <a:rect b="b" l="l" r="r" t="t"/>
            <a:pathLst>
              <a:path extrusionOk="0"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7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INFERENCIA </a:t>
            </a:r>
            <a:endParaRPr/>
          </a:p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7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          CAUSAL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816668" y="7744880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endParaRPr/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Yair Barnatan</a:t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Augusto Rey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Germán Samartino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en Explotación de Datos y Descubrimiento del Conocimiento - UBA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6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lang="es-AR" sz="28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 descripción del video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1. Identificación y origen de los datos: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143000" y="2711473"/>
            <a:ext cx="15774426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Encuesta Nacional sobre Consumos y Prácticas de Cuidado 2022 (ENCoPraC)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Organismo a cargo: El estudio fue realizado por el Instituto Nacional de Estadística y Censos (INDEC) en conjunto con el Observatorio Argentino de Drogas (OAD), dependiente de la Secretaría de Políticas Integrales sobre Drogas de la Nación Argentina (SEDRONAR), y las direcciones provinciales de estadística.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Objetivo: Recopilar datos sobre la magnitud del consumo de sustancias psicoactivas, el perfil sociodemográfico de los usuarios, patrones de uso, percepción de riesgo y prácticas de cuidado.</a:t>
            </a:r>
            <a:endParaRPr sz="3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38200" y="8343900"/>
            <a:ext cx="1440282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Link al sitio: https://www.datos.gob.ar/dataset/sedronar-encuesta-nacional-sobre-consumo-practicas-cuidado-encoprac---2022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2. Metodología de recolección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066800" y="3325910"/>
            <a:ext cx="15774426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Población objetivo: Personas de 16 a 75 años que residen en aglomerados urbanos (específicamente los 31 aglomerados de la EPH).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Método de selección: Se encuestó a una única persona por hogar, seleccionada aleatoriamente mediante el método de la tabla de Kish.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Instrumento: Se utilizó un cuestionario digital con validaciones automáticas.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. Dimensión</a:t>
            </a: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del dataset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066800" y="3325910"/>
            <a:ext cx="1577442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Cantidad de Registros 12.062. Cada fila representa a una persona encuestada por hogar.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Cantidad de Columnas: 562.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Texto&#10;&#10;El contenido generado por IA puede ser incorrecto."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5829300"/>
            <a:ext cx="7980403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4. Variables del dataset: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838200" y="2256606"/>
            <a:ext cx="15774426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Las 562 variables incluyen tanto las preguntas directas del cuestionario como variables construidas posteriormente. Se organizan en los siguientes bloques temáticos: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Identificación y Caracterización: datos del hogar, nivel/clima educativo, características del jefe/a de hogar y del encuestado (sexo, edad, nivel educativo, cobertura de salud).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Bloques Temáticos de Consumo: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Salud General (SA)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Alcohol (AL) y Tabaco (TA)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Psicofármacos: Tranquilizantes y Estimulantes (con y sin receta) (TR, TRS, ES, ESS)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Medicamentos opioides (MO)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Marihuana (uso terapéutico y no terapéutico) (MA, CM)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Cocaína (CO), Pasta base/paco (PB), Éxtasis (EX), Inhalables (IN) y Alucinógenos (ALU)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Factores asociados al consumo (FA), 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Cuidados propios y demanda de tratamiento (CP), 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Percepción de riesgo (PR) 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Información sobre drogas (ID).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837174" y="896147"/>
            <a:ext cx="169184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i="0" lang="es-AR" sz="5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Variables de interés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1676400" y="2079684"/>
            <a:ext cx="990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Identificación: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6"/>
          <p:cNvGraphicFramePr/>
          <p:nvPr/>
        </p:nvGraphicFramePr>
        <p:xfrm>
          <a:off x="2057399" y="2829512"/>
          <a:ext cx="9277815" cy="1981200"/>
        </p:xfrm>
        <a:graphic>
          <a:graphicData uri="http://schemas.openxmlformats.org/presentationml/2006/ole">
            <mc:AlternateContent>
              <mc:Choice Requires="v">
                <p:oleObj r:id="rId5" imgH="1981200" imgW="9277815" progId="Excel.Sheet.12" spid="_x0000_s1">
                  <p:embed/>
                </p:oleObj>
              </mc:Choice>
              <mc:Fallback>
                <p:oleObj r:id="rId6" imgH="1981200" imgW="9277815" progId="Excel.Sheet.12">
                  <p:embed/>
                  <p:pic>
                    <p:nvPicPr>
                      <p:cNvPr id="151" name="Google Shape;151;p6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057399" y="2829512"/>
                        <a:ext cx="927781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" name="Google Shape;152;p6"/>
          <p:cNvSpPr txBox="1"/>
          <p:nvPr/>
        </p:nvSpPr>
        <p:spPr>
          <a:xfrm>
            <a:off x="1676400" y="4975525"/>
            <a:ext cx="990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Bloques temáticos: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6"/>
          <p:cNvGraphicFramePr/>
          <p:nvPr/>
        </p:nvGraphicFramePr>
        <p:xfrm>
          <a:off x="2029215" y="5869331"/>
          <a:ext cx="10964862" cy="2294181"/>
        </p:xfrm>
        <a:graphic>
          <a:graphicData uri="http://schemas.openxmlformats.org/presentationml/2006/ole">
            <mc:AlternateContent>
              <mc:Choice Requires="v">
                <p:oleObj r:id="rId8" imgH="2294181" imgW="10964862" progId="Excel.Sheet.12" spid="_x0000_s2">
                  <p:embed/>
                </p:oleObj>
              </mc:Choice>
              <mc:Fallback>
                <p:oleObj r:id="rId9" imgH="2294181" imgW="10964862" progId="Excel.Sheet.12">
                  <p:embed/>
                  <p:pic>
                    <p:nvPicPr>
                      <p:cNvPr id="153" name="Google Shape;153;p6"/>
                      <p:cNvPicPr preferRelativeResize="0"/>
                      <p:nvPr/>
                    </p:nvPicPr>
                    <p:blipFill rotWithShape="1">
                      <a:blip r:embed="rId1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029215" y="5869331"/>
                        <a:ext cx="10964862" cy="2294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5. Objetivo general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913887" y="2705100"/>
            <a:ext cx="1646022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objetivo general de este trabajo es adentrarnos en cuáles pueden ser las causas o factores más influyentes en el aumento del consumo de alcohol en la población encuestada.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1219200" y="3716521"/>
            <a:ext cx="16918452" cy="8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400"/>
              <a:buFont typeface="Poppins"/>
              <a:buNone/>
            </a:pPr>
            <a:r>
              <a:rPr b="1" lang="es-AR" sz="4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Alcance:</a:t>
            </a:r>
            <a:endParaRPr b="1" i="0" sz="44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912843" y="5003897"/>
            <a:ext cx="1646022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Para ello, nos centraremos en: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ariables de identificación y Caracterización del encuestado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Variables referidas al consumo de alcohol (AL)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Variables </a:t>
            </a: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 actividad social (SA)</a:t>
            </a: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6. </a:t>
            </a: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Í</a:t>
            </a: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ndices calculados</a:t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1403995" y="2285204"/>
            <a:ext cx="16918452" cy="8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400"/>
              <a:buFont typeface="Poppins"/>
              <a:buNone/>
            </a:pPr>
            <a:r>
              <a:rPr b="1" lang="es-AR" sz="4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Índice de consumo de alcohol:</a:t>
            </a:r>
            <a:endParaRPr b="1" i="0" sz="44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990600" y="3501133"/>
            <a:ext cx="16460226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Reúne la información de las variables: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AL_01: Alguna vez en la vida, ¿consumió bebidas alcohólicas?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AL_04: En los últimos 12 meses </a:t>
            </a: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¿consumió bebidas alcohólicas?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L_05: ¿Con qué frecuencia consume alguna bebida alcohólica?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</a:t>
            </a: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06_TRAGOS_CERVEZA: ¿Cuántos tragos de cerveza suele tomar en un día de consumo habitual?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AL06_TRAGOS_VINO: ¿Cuántos tragos de vino suele tomar en un día de consumo habitual?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AL06_TRAGOS_BEBIDASFUERTES: ¿Cuántos tragos de bebidas fuertes suele tomar en un día de consumo habitual?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AL_07: ¿Con qué frecuencia ha tomado 5 o más tragos de bebidas alcohólicas en un solo día?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AL_08 ¿Con qué frecuencia a sentido la imposibilidad de parar de beber una vez que había empezado?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AL_09: ¿Con qué frecuencia no pudo hacer lo que se esperaba de usted porque había bebido?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6. Índices calculados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1403995" y="2285204"/>
            <a:ext cx="16918452" cy="8504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400"/>
              <a:buFont typeface="Poppins"/>
              <a:buNone/>
            </a:pPr>
            <a:r>
              <a:rPr b="1" i="0" lang="es-AR" sz="44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Índice de asistencia a eventos sociales: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990600" y="3501133"/>
            <a:ext cx="1646022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Reúne la información de las variables: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SA_07__1: ¿Realiza alguna de estas actividades al menos una vez al mes? Juntarse con amigos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SA_07__2: ¿Realiza alguna de estas actividades al menos una vez al mes? Concurrir a espectáculos</a:t>
            </a:r>
            <a:endParaRPr/>
          </a:p>
          <a:p>
            <a:pPr indent="-457200" lvl="0" marL="4572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Al_16</a:t>
            </a:r>
            <a:r>
              <a:rPr b="0" i="0" lang="es-AR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 En los últimos 30 días, ¿cuál fue el lugar o la situación más frecuente donde consumió bebidas alcohólicas?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 rot="10435729">
            <a:off x="-1933556" y="-5811836"/>
            <a:ext cx="7951775" cy="8527373"/>
          </a:xfrm>
          <a:custGeom>
            <a:rect b="b" l="l" r="r" t="t"/>
            <a:pathLst>
              <a:path extrusionOk="0"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